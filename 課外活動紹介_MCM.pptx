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90"/>
    <p:restoredTop sz="91260"/>
  </p:normalViewPr>
  <p:slideViewPr>
    <p:cSldViewPr snapToGrid="0">
      <p:cViewPr>
        <p:scale>
          <a:sx n="134" d="100"/>
          <a:sy n="134" d="100"/>
        </p:scale>
        <p:origin x="336" y="-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1DB0C1-3924-E94C-9A77-37CD87248061}" type="datetimeFigureOut">
              <a:rPr kumimoji="1" lang="zh-CN" altLang="en-US" smtClean="0"/>
              <a:t>2025/7/8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C71B8-C35B-5943-AECF-D50CE07F27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34881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5E132C-6E5E-8152-3F3F-8CB375BC62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FF67B7E-3875-0C17-A424-82B62DB498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CA01C7-B51A-0EF4-B43E-D46DE867B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66D3A-9D05-4948-B781-FF1C38BADFF9}" type="datetime1">
              <a:rPr kumimoji="1" lang="zh-CN" altLang="en-US" smtClean="0"/>
              <a:t>2025/7/8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574C68-AE30-A9C1-FEEA-5AA961F5C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4D9411-77AD-56DC-6824-6E662C42D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53C53-F4C1-CB48-9843-4ABFBD5C54B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05338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C5C6D5-66A1-F556-2667-547A87383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9DB6C7-789D-5587-AFED-22118EBF6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0D2FF1-786B-68AB-B37E-F269E9F13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0F32D-2BCF-9542-B6BB-59E0871A602A}" type="datetime1">
              <a:rPr kumimoji="1" lang="zh-CN" altLang="en-US" smtClean="0"/>
              <a:t>2025/7/8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E01D08-E9D4-FD50-FE62-0BFFEEB46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5EB25D-851A-5C99-80B4-E21D055C8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53C53-F4C1-CB48-9843-4ABFBD5C54B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14202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ED0F21-3C13-D135-008D-DD85287AF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7F3518A-D426-7F59-0EA2-FF8F730E83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159430-3F98-4FF9-0AD8-9117E1773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753CB-4F65-A644-8EC0-EA1D534A923B}" type="datetime1">
              <a:rPr kumimoji="1" lang="zh-CN" altLang="en-US" smtClean="0"/>
              <a:t>2025/7/8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E00E05-EC5D-589F-4BBF-502E05D58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D7D528-A378-6688-59A7-A819AFA3F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53C53-F4C1-CB48-9843-4ABFBD5C54B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44098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6F7852-2FED-48D9-FEFD-7B29DF276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A1ABAA-F9D7-B9E4-09AD-040E933D13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C31EF8C-EF07-6383-9678-45BBF7CCA6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33E7B2-C782-D662-6065-CECFD2AEE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33115-296A-774C-906B-7DF6A67D5562}" type="datetime1">
              <a:rPr kumimoji="1" lang="zh-CN" altLang="en-US" smtClean="0"/>
              <a:t>2025/7/8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8640651-C765-AA0C-88BF-80C134CEB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9280A4A-08DA-3881-E6AE-04DA821C5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53C53-F4C1-CB48-9843-4ABFBD5C54B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82189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D1E4D0-495E-9B89-A063-06E109778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DF8C75B-C121-4179-12B9-4BD14D99AB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4783DA1-C7F3-5E37-2C84-68C09B86F2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4EDE6AE-838C-B6F0-BB8E-36BD5717B6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02EFFA9-EACF-607F-3214-8F61D6CF9E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0089A5A-D512-4753-C541-F596E00B5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6DED2-AA5F-0446-96D3-9B1859594E44}" type="datetime1">
              <a:rPr kumimoji="1" lang="zh-CN" altLang="en-US" smtClean="0"/>
              <a:t>2025/7/8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0497166-4C6A-A83A-A122-78FF8139C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981AAA8-69ED-4C3A-1F2F-7BCD95791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53C53-F4C1-CB48-9843-4ABFBD5C54B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32539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2D74AF-30BA-3221-6D79-4DBB6030B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283761C-215F-6376-B202-6DD599DA5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C8257-596B-EC4B-AA56-A4760EC009E7}" type="datetime1">
              <a:rPr kumimoji="1" lang="zh-CN" altLang="en-US" smtClean="0"/>
              <a:t>2025/7/8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5429D48-965A-0505-C370-9C73130B1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78D8B63-7CE8-2F68-C81B-74F417C62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53C53-F4C1-CB48-9843-4ABFBD5C54B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33402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E09EE94-292B-587A-3200-A9264E767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1ED00-C38A-124E-A45D-525CBBA78ADB}" type="datetime1">
              <a:rPr kumimoji="1" lang="zh-CN" altLang="en-US" smtClean="0"/>
              <a:t>2025/7/8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3FF6738-B447-3E87-533D-3314E6A5F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D2C858-5803-0A0F-D24D-1CDAC00C2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53C53-F4C1-CB48-9843-4ABFBD5C54B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29085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298396-12E4-C320-64F4-616EB3990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AF701D-0F90-B3AF-EEB0-A821A8B58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1DEF1A3-954F-C8EC-F5CE-E6ED3E0BF9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E673697-6DC1-7703-4833-FF76A8985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832F1-91E0-BD46-BBEC-5C4784D8D544}" type="datetime1">
              <a:rPr kumimoji="1" lang="zh-CN" altLang="en-US" smtClean="0"/>
              <a:t>2025/7/8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43516DB-24A5-EFD7-257C-461F9BFCE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161083-CDBB-9EFC-C00B-3E0F516E8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53C53-F4C1-CB48-9843-4ABFBD5C54B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24317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FF8798-6FE7-2B13-BEAB-E3189C692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1354A95-A042-DA37-3256-BD5BE71F1B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78ECFD6-4B2A-B074-4A61-DCB940216B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3ED8C5A-A776-4BAF-4687-E852FC6E6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239C0-FDB4-554D-B7DA-D80AD95F8A10}" type="datetime1">
              <a:rPr kumimoji="1" lang="zh-CN" altLang="en-US" smtClean="0"/>
              <a:t>2025/7/8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23359E-7FFE-083C-033E-02BDA2D86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63E00AA-E562-0470-F82B-25AFE5011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53C53-F4C1-CB48-9843-4ABFBD5C54B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9237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93CF4B-33F0-E75E-8FDD-08D088915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A74BCAD-5602-4091-82A3-C9C0B21C4A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D495CF-DE6D-1AC3-B56F-FBBBD7B46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6B54E-91CB-4E4E-ABAF-E16827F3DA56}" type="datetime1">
              <a:rPr kumimoji="1" lang="zh-CN" altLang="en-US" smtClean="0"/>
              <a:t>2025/7/8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48C766-42DF-252A-7527-AB87D649F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033790-C668-B220-8AAE-5154931EC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53C53-F4C1-CB48-9843-4ABFBD5C54B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01639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811BCBE-1C99-39B5-60F2-F82DC61166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474AC06-E563-82D9-D3B3-710EDAC202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41AB7D-F30F-FFAF-CC67-5AD4A8AEE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EE5D4-5A3E-F047-A474-CA776313CF77}" type="datetime1">
              <a:rPr kumimoji="1" lang="zh-CN" altLang="en-US" smtClean="0"/>
              <a:t>2025/7/8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AECF8A-45DC-2FB9-90B8-5B43D5BDC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9F79A8-90FB-B79F-93F1-1095E1208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53C53-F4C1-CB48-9843-4ABFBD5C54B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04855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693D0B6-BA7A-80DC-588A-B2505A0CB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BC48BE-8D4E-7467-BCC5-E4ABC5F916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7718E0-B833-41A7-6761-9F6B6C19C2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5F8A51-F5CA-6F4C-A486-D1D8E4CD2146}" type="datetime1">
              <a:rPr kumimoji="1" lang="zh-CN" altLang="en-US" smtClean="0"/>
              <a:t>2025/7/8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4FE12A-4157-77A9-BC6F-DC742FFD71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DB36E7-2FFC-7CAA-01F3-D9E7C97E6A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653C53-F4C1-CB48-9843-4ABFBD5C54B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08211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08DF8C-9B19-1FA7-E367-AE8D1558EF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73238"/>
            <a:ext cx="9144000" cy="938048"/>
          </a:xfrm>
        </p:spPr>
        <p:txBody>
          <a:bodyPr/>
          <a:lstStyle/>
          <a:p>
            <a:r>
              <a:rPr kumimoji="1"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課外活動紹介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C48463E-6467-9E9B-D3A9-5B0DC0CBB9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87838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kumimoji="1" lang="en-US" altLang="zh-CN" dirty="0"/>
              <a:t>Graduate School of Engineering</a:t>
            </a:r>
          </a:p>
          <a:p>
            <a:r>
              <a:rPr kumimoji="1" lang="en-US" altLang="zh-CN" dirty="0"/>
              <a:t>Osaka University</a:t>
            </a:r>
          </a:p>
          <a:p>
            <a:r>
              <a:rPr kumimoji="1" lang="en-US" altLang="zh-CN" dirty="0"/>
              <a:t>Master‘s course</a:t>
            </a:r>
          </a:p>
          <a:p>
            <a:r>
              <a:rPr kumimoji="1" lang="en-US" altLang="zh-CN" dirty="0"/>
              <a:t>Wang Zhuofan</a:t>
            </a:r>
            <a:endParaRPr kumimoji="1"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3C2CE8-9740-238D-1546-88E66E8A2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85585-A73D-3A42-93BF-B4E978D6EFDF}" type="datetime1">
              <a:rPr kumimoji="1" lang="zh-CN" altLang="en-US" smtClean="0"/>
              <a:t>2025/7/8</a:t>
            </a:fld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8D07504-9803-6C21-AC44-D75A6F9C0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53C53-F4C1-CB48-9843-4ABFBD5C54B6}" type="slidenum">
              <a:rPr kumimoji="1" lang="zh-CN" altLang="en-US" smtClean="0"/>
              <a:t>1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79735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0CCE14AF-613F-1F01-4E28-6CBD99B12873}"/>
              </a:ext>
            </a:extLst>
          </p:cNvPr>
          <p:cNvSpPr/>
          <p:nvPr/>
        </p:nvSpPr>
        <p:spPr>
          <a:xfrm>
            <a:off x="0" y="0"/>
            <a:ext cx="12192000" cy="13255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AF928DF-4852-0356-4EE2-21ED251C3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" y="-1"/>
            <a:ext cx="10515600" cy="1325563"/>
          </a:xfrm>
        </p:spPr>
        <p:txBody>
          <a:bodyPr/>
          <a:lstStyle/>
          <a:p>
            <a:r>
              <a:rPr kumimoji="1" lang="zh-CN" altLang="en-US" b="1" dirty="0">
                <a:solidFill>
                  <a:schemeClr val="bg1"/>
                </a:solidFill>
              </a:rPr>
              <a:t>アウトライン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245371-B501-9F1E-438C-9E2F059F1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" y="1391626"/>
            <a:ext cx="6124467" cy="4764858"/>
          </a:xfrm>
        </p:spPr>
        <p:txBody>
          <a:bodyPr>
            <a:normAutofit fontScale="92500" lnSpcReduction="10000"/>
          </a:bodyPr>
          <a:lstStyle/>
          <a:p>
            <a:r>
              <a:rPr lang="ja-JP" altLang="en-US" sz="2400" b="1"/>
              <a:t>タイトル</a:t>
            </a:r>
            <a:r>
              <a:rPr lang="ja-JP" altLang="en-US" sz="2400"/>
              <a:t>：</a:t>
            </a:r>
          </a:p>
          <a:p>
            <a:pPr marL="0" indent="0">
              <a:buNone/>
            </a:pPr>
            <a:r>
              <a:rPr lang="ja-JP" altLang="en-US" sz="2400"/>
              <a:t>「テキスト</a:t>
            </a:r>
            <a:r>
              <a:rPr lang="zh-CN" altLang="en-US" sz="2400" dirty="0"/>
              <a:t>感情分析・特徴量</a:t>
            </a:r>
            <a:r>
              <a:rPr lang="ja-JP" altLang="en-US" sz="2400"/>
              <a:t>エンジニアリング・ポアソン</a:t>
            </a:r>
            <a:r>
              <a:rPr lang="zh-CN" altLang="en-US" sz="2400" dirty="0"/>
              <a:t>過程</a:t>
            </a:r>
            <a:r>
              <a:rPr lang="ja-JP" altLang="en-US" sz="2400"/>
              <a:t>に</a:t>
            </a:r>
            <a:r>
              <a:rPr lang="zh-CN" altLang="en-US" sz="2400" dirty="0"/>
              <a:t>基</a:t>
            </a:r>
            <a:r>
              <a:rPr lang="ja-JP" altLang="en-US" sz="2400"/>
              <a:t>づく</a:t>
            </a:r>
            <a:r>
              <a:rPr lang="en" altLang="zh-CN" sz="2400" dirty="0"/>
              <a:t>Amazon</a:t>
            </a:r>
            <a:r>
              <a:rPr lang="ja-JP" altLang="en-US" sz="2400"/>
              <a:t>レビューのデータマイニング」</a:t>
            </a:r>
          </a:p>
          <a:p>
            <a:r>
              <a:rPr lang="ja-JP" altLang="en-US" sz="2400" b="1"/>
              <a:t>チーム</a:t>
            </a:r>
            <a:r>
              <a:rPr lang="zh-CN" altLang="en-US" sz="2400" b="1" dirty="0"/>
              <a:t>番号</a:t>
            </a:r>
            <a:r>
              <a:rPr lang="zh-CN" altLang="en-US" sz="2400" dirty="0"/>
              <a:t>：</a:t>
            </a:r>
            <a:r>
              <a:rPr lang="en" altLang="zh-CN" sz="2400" dirty="0"/>
              <a:t> #2002531 (</a:t>
            </a:r>
            <a:r>
              <a:rPr lang="zh-CN" altLang="en-US" sz="2400" dirty="0"/>
              <a:t>三人チーム</a:t>
            </a:r>
            <a:r>
              <a:rPr lang="en" altLang="zh-CN" sz="2400" dirty="0"/>
              <a:t>)</a:t>
            </a:r>
          </a:p>
          <a:p>
            <a:r>
              <a:rPr lang="zh-CN" altLang="en-US" sz="2400" b="1" dirty="0"/>
              <a:t>役割：</a:t>
            </a:r>
            <a:r>
              <a:rPr lang="ja-JP" altLang="en-US" sz="2400"/>
              <a:t>アルゴリズム</a:t>
            </a:r>
            <a:r>
              <a:rPr lang="zh-CN" altLang="en-US" sz="2400" dirty="0"/>
              <a:t>設計、成果統合</a:t>
            </a:r>
            <a:r>
              <a:rPr lang="ja-JP" altLang="en-US" sz="2400"/>
              <a:t>と</a:t>
            </a:r>
            <a:r>
              <a:rPr lang="zh-CN" altLang="en-US" sz="2400" dirty="0"/>
              <a:t>報告書作成</a:t>
            </a:r>
            <a:endParaRPr lang="en" altLang="zh-CN" sz="2400" dirty="0"/>
          </a:p>
          <a:p>
            <a:r>
              <a:rPr lang="zh-CN" altLang="en-US" sz="2400" b="1" dirty="0"/>
              <a:t>大会名</a:t>
            </a:r>
            <a:r>
              <a:rPr lang="zh-CN" altLang="en-US" sz="2400" dirty="0"/>
              <a:t>：</a:t>
            </a:r>
            <a:r>
              <a:rPr lang="en-US" altLang="zh-CN" sz="2400" dirty="0"/>
              <a:t>2020</a:t>
            </a:r>
            <a:r>
              <a:rPr lang="zh-CN" altLang="en-US" sz="2400" dirty="0"/>
              <a:t>年度 </a:t>
            </a:r>
            <a:r>
              <a:rPr lang="en" altLang="zh-CN" sz="2400" dirty="0"/>
              <a:t>MCM </a:t>
            </a:r>
            <a:r>
              <a:rPr lang="zh-CN" altLang="en-US" sz="2400" dirty="0"/>
              <a:t>数学モデリング</a:t>
            </a:r>
            <a:r>
              <a:rPr lang="ja-JP" altLang="en-US" sz="2400"/>
              <a:t>コンテスト</a:t>
            </a:r>
            <a:r>
              <a:rPr lang="en-US" altLang="ja-JP" sz="2400" dirty="0"/>
              <a:t> (</a:t>
            </a:r>
            <a:r>
              <a:rPr lang="en" altLang="zh-CN" sz="2400" dirty="0"/>
              <a:t>The Mathematical Contest in Modeling</a:t>
            </a:r>
            <a:r>
              <a:rPr lang="en-US" altLang="ja-JP" sz="2400" dirty="0"/>
              <a:t>)</a:t>
            </a:r>
            <a:endParaRPr lang="ja-JP" altLang="en-US" sz="2400"/>
          </a:p>
          <a:p>
            <a:r>
              <a:rPr kumimoji="1" lang="zh-CN" altLang="en-US" sz="2400" b="1" dirty="0"/>
              <a:t>主催方：</a:t>
            </a:r>
            <a:r>
              <a:rPr lang="en" altLang="zh-CN" sz="2400" dirty="0"/>
              <a:t>Consortium for Mathematics and its Applications, supported by Cornell University</a:t>
            </a:r>
          </a:p>
          <a:p>
            <a:r>
              <a:rPr kumimoji="1" lang="zh-CN" altLang="en-US" sz="2400" b="1" dirty="0"/>
              <a:t>成果：</a:t>
            </a:r>
            <a:r>
              <a:rPr kumimoji="1" lang="en-US" altLang="zh-CN" sz="2400" dirty="0"/>
              <a:t>13700 </a:t>
            </a:r>
            <a:r>
              <a:rPr kumimoji="1" lang="zh-CN" altLang="en-US" sz="2400" dirty="0"/>
              <a:t>チームから</a:t>
            </a:r>
            <a:r>
              <a:rPr kumimoji="1" lang="en-US" altLang="zh-CN" sz="2400" dirty="0"/>
              <a:t>Meritorious Winner</a:t>
            </a:r>
            <a:r>
              <a:rPr kumimoji="1" lang="zh-CN" altLang="en-US" sz="2400" dirty="0"/>
              <a:t>（上位</a:t>
            </a:r>
            <a:r>
              <a:rPr kumimoji="1" lang="en-US" altLang="zh-CN" sz="2400" dirty="0"/>
              <a:t>6%</a:t>
            </a:r>
            <a:r>
              <a:rPr kumimoji="1" lang="zh-CN" altLang="en-US" sz="2400" dirty="0"/>
              <a:t>）取得</a:t>
            </a:r>
            <a:endParaRPr kumimoji="1" lang="en" altLang="zh-CN" sz="240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B5BBEC-73E1-AA2E-B954-B6FFCB942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0F32D-2BCF-9542-B6BB-59E0871A602A}" type="datetime1">
              <a:rPr kumimoji="1" lang="zh-CN" altLang="en-US" smtClean="0"/>
              <a:t>2025/7/8</a:t>
            </a:fld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7F9D408-4CF0-CC00-34D3-3F4D74C06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53C53-F4C1-CB48-9843-4ABFBD5C54B6}" type="slidenum">
              <a:rPr kumimoji="1" lang="zh-CN" altLang="en-US" smtClean="0"/>
              <a:t>2</a:t>
            </a:fld>
            <a:endParaRPr kumimoji="1" lang="zh-CN" altLang="en-US"/>
          </a:p>
        </p:txBody>
      </p:sp>
      <p:pic>
        <p:nvPicPr>
          <p:cNvPr id="8" name="图片 7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A5572545-9C84-79A9-F655-7C7F46018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9717" y="1736682"/>
            <a:ext cx="2857614" cy="2037373"/>
          </a:xfrm>
          <a:prstGeom prst="rect">
            <a:avLst/>
          </a:prstGeom>
        </p:spPr>
      </p:pic>
      <p:pic>
        <p:nvPicPr>
          <p:cNvPr id="10" name="图片 9" descr="表格&#10;&#10;AI 生成的内容可能不正确。">
            <a:extLst>
              <a:ext uri="{FF2B5EF4-FFF2-40B4-BE49-F238E27FC236}">
                <a16:creationId xmlns:a16="http://schemas.microsoft.com/office/drawing/2014/main" id="{64AA6400-F7EE-EBB5-0244-E4CCD17357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3548" y="1614492"/>
            <a:ext cx="2851494" cy="2202596"/>
          </a:xfrm>
          <a:prstGeom prst="rect">
            <a:avLst/>
          </a:prstGeom>
        </p:spPr>
      </p:pic>
      <p:pic>
        <p:nvPicPr>
          <p:cNvPr id="12" name="图片 11" descr="文本&#10;&#10;AI 生成的内容可能不正确。">
            <a:extLst>
              <a:ext uri="{FF2B5EF4-FFF2-40B4-BE49-F238E27FC236}">
                <a16:creationId xmlns:a16="http://schemas.microsoft.com/office/drawing/2014/main" id="{79ECA27A-DE52-6403-DE7D-80C916A23A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8314" y="4520203"/>
            <a:ext cx="5350468" cy="1636281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EDA9F69E-7217-5ED6-7731-ADA84746C063}"/>
              </a:ext>
            </a:extLst>
          </p:cNvPr>
          <p:cNvSpPr/>
          <p:nvPr/>
        </p:nvSpPr>
        <p:spPr>
          <a:xfrm>
            <a:off x="9353547" y="2196785"/>
            <a:ext cx="2743201" cy="1492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9193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3B8360-0CDB-F3B3-1F41-755F9B7798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E80F32D-2BCF-9542-B6BB-59E0871A602A}" type="datetime1">
              <a:rPr kumimoji="1" lang="en-US" altLang="zh-CN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7/9/25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79D42DA-9B6C-25EB-6A21-C6DCFBC88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3653C53-F4C1-CB48-9843-4ABFBD5C54B6}" type="slidenum">
              <a:rPr kumimoji="1" lang="en-US" altLang="zh-CN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3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152BCC8-9210-EB09-12CC-C3FD201D4013}"/>
              </a:ext>
            </a:extLst>
          </p:cNvPr>
          <p:cNvSpPr/>
          <p:nvPr/>
        </p:nvSpPr>
        <p:spPr>
          <a:xfrm>
            <a:off x="0" y="0"/>
            <a:ext cx="12192000" cy="13255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A2BCB68A-87DE-3F28-6FB0-9655F8976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" y="-1"/>
            <a:ext cx="10515600" cy="1325563"/>
          </a:xfrm>
        </p:spPr>
        <p:txBody>
          <a:bodyPr/>
          <a:lstStyle/>
          <a:p>
            <a:r>
              <a:rPr lang="zh-CN" altLang="en-US" b="1" dirty="0">
                <a:solidFill>
                  <a:schemeClr val="bg1"/>
                </a:solidFill>
              </a:rPr>
              <a:t>原始</a:t>
            </a:r>
            <a:r>
              <a:rPr lang="ja-JP" altLang="en-US" b="1">
                <a:solidFill>
                  <a:schemeClr val="bg1"/>
                </a:solidFill>
              </a:rPr>
              <a:t>データの</a:t>
            </a:r>
            <a:r>
              <a:rPr lang="zh-CN" altLang="en-US" b="1" dirty="0">
                <a:solidFill>
                  <a:schemeClr val="bg1"/>
                </a:solidFill>
              </a:rPr>
              <a:t>概要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7FA0CEC-B342-F6AB-6EB5-5FEAFDA4D206}"/>
              </a:ext>
            </a:extLst>
          </p:cNvPr>
          <p:cNvSpPr txBox="1"/>
          <p:nvPr/>
        </p:nvSpPr>
        <p:spPr>
          <a:xfrm>
            <a:off x="84364" y="1422006"/>
            <a:ext cx="618308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ja-JP" altLang="en-US" b="1" i="0" u="none" strike="noStrike">
                <a:solidFill>
                  <a:srgbClr val="000000"/>
                </a:solidFill>
                <a:effectLst/>
              </a:rPr>
              <a:t>データソース</a:t>
            </a:r>
            <a:r>
              <a:rPr lang="ja-JP" altLang="en-US" b="0" i="0" u="none" strike="noStrike">
                <a:solidFill>
                  <a:srgbClr val="000000"/>
                </a:solidFill>
                <a:effectLst/>
              </a:rPr>
              <a:t>：</a:t>
            </a:r>
            <a:r>
              <a:rPr lang="en" altLang="zh-CN" b="0" i="0" u="none" strike="noStrike" dirty="0">
                <a:solidFill>
                  <a:srgbClr val="000000"/>
                </a:solidFill>
                <a:effectLst/>
              </a:rPr>
              <a:t>Amazon</a:t>
            </a:r>
            <a:r>
              <a:rPr lang="ja-JP" altLang="en-US" b="0" i="0" u="none" strike="noStrike">
                <a:solidFill>
                  <a:srgbClr val="000000"/>
                </a:solidFill>
                <a:effectLst/>
              </a:rPr>
              <a:t>カスタマーレビュー（</a:t>
            </a:r>
            <a:r>
              <a:rPr lang="en" altLang="zh-CN" b="0" i="0" u="none" strike="noStrike" dirty="0">
                <a:solidFill>
                  <a:srgbClr val="000000"/>
                </a:solidFill>
                <a:effectLst/>
              </a:rPr>
              <a:t>TSV</a:t>
            </a:r>
            <a:r>
              <a:rPr lang="zh-CN" altLang="en-US" b="0" i="0" u="none" strike="noStrike" dirty="0">
                <a:solidFill>
                  <a:srgbClr val="000000"/>
                </a:solidFill>
                <a:effectLst/>
              </a:rPr>
              <a:t>形式）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1" i="0" u="none" strike="noStrike" dirty="0">
                <a:solidFill>
                  <a:srgbClr val="000000"/>
                </a:solidFill>
                <a:effectLst/>
              </a:rPr>
              <a:t>3</a:t>
            </a:r>
            <a:r>
              <a:rPr lang="zh-CN" altLang="en-US" b="1" i="0" u="none" strike="noStrike" dirty="0">
                <a:solidFill>
                  <a:srgbClr val="000000"/>
                </a:solidFill>
                <a:effectLst/>
              </a:rPr>
              <a:t>製品</a:t>
            </a:r>
            <a:r>
              <a:rPr lang="zh-CN" altLang="en-US" b="0" i="0" u="none" strike="noStrike" dirty="0">
                <a:solidFill>
                  <a:srgbClr val="000000"/>
                </a:solidFill>
                <a:effectLst/>
              </a:rPr>
              <a:t>：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ja-JP" altLang="en-US" b="0" i="0" u="none" strike="noStrike">
                <a:solidFill>
                  <a:srgbClr val="000000"/>
                </a:solidFill>
                <a:effectLst/>
              </a:rPr>
              <a:t>ヘアドライヤー（</a:t>
            </a:r>
            <a:r>
              <a:rPr lang="en" altLang="zh-CN" b="0" i="0" u="none" strike="noStrike" dirty="0" err="1">
                <a:solidFill>
                  <a:srgbClr val="000000"/>
                </a:solidFill>
                <a:effectLst/>
              </a:rPr>
              <a:t>hairdryer.tsv</a:t>
            </a:r>
            <a:r>
              <a:rPr lang="zh-CN" altLang="en" b="0" i="0" u="none" strike="noStrike" dirty="0">
                <a:solidFill>
                  <a:srgbClr val="000000"/>
                </a:solidFill>
                <a:effectLst/>
              </a:rPr>
              <a:t>）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0" i="0" u="none" strike="noStrike" dirty="0">
                <a:solidFill>
                  <a:srgbClr val="000000"/>
                </a:solidFill>
                <a:effectLst/>
              </a:rPr>
              <a:t>電子</a:t>
            </a:r>
            <a:r>
              <a:rPr lang="ja-JP" altLang="en-US" b="0" i="0" u="none" strike="noStrike">
                <a:solidFill>
                  <a:srgbClr val="000000"/>
                </a:solidFill>
                <a:effectLst/>
              </a:rPr>
              <a:t>レンジ（</a:t>
            </a:r>
            <a:r>
              <a:rPr lang="en" altLang="zh-CN" b="0" i="0" u="none" strike="noStrike" dirty="0" err="1">
                <a:solidFill>
                  <a:srgbClr val="000000"/>
                </a:solidFill>
                <a:effectLst/>
              </a:rPr>
              <a:t>microwave.tsv</a:t>
            </a:r>
            <a:r>
              <a:rPr lang="zh-CN" altLang="en" b="0" i="0" u="none" strike="noStrike" dirty="0">
                <a:solidFill>
                  <a:srgbClr val="000000"/>
                </a:solidFill>
                <a:effectLst/>
              </a:rPr>
              <a:t>）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ja-JP" altLang="en-US" b="0" i="0" u="none" strike="noStrike">
                <a:solidFill>
                  <a:srgbClr val="000000"/>
                </a:solidFill>
                <a:effectLst/>
              </a:rPr>
              <a:t>おしゃぶり（</a:t>
            </a:r>
            <a:r>
              <a:rPr lang="en" altLang="zh-CN" b="0" i="0" u="none" strike="noStrike" dirty="0" err="1">
                <a:solidFill>
                  <a:srgbClr val="000000"/>
                </a:solidFill>
                <a:effectLst/>
              </a:rPr>
              <a:t>pacifier.tsv</a:t>
            </a:r>
            <a:r>
              <a:rPr lang="zh-CN" altLang="en" b="0" i="0" u="none" strike="noStrike" dirty="0">
                <a:solidFill>
                  <a:srgbClr val="000000"/>
                </a:solidFill>
                <a:effectLst/>
              </a:rPr>
              <a:t>）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72CAA47-F2DB-3DFA-DADC-B0CF282566A3}"/>
              </a:ext>
            </a:extLst>
          </p:cNvPr>
          <p:cNvSpPr txBox="1"/>
          <p:nvPr/>
        </p:nvSpPr>
        <p:spPr>
          <a:xfrm>
            <a:off x="84364" y="2923310"/>
            <a:ext cx="618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altLang="en-US" b="1" i="0" u="none" strike="noStrike">
                <a:solidFill>
                  <a:srgbClr val="000000"/>
                </a:solidFill>
                <a:effectLst/>
              </a:rPr>
              <a:t>データ</a:t>
            </a:r>
            <a:r>
              <a:rPr lang="zh-CN" altLang="en-US" b="1" i="0" u="none" strike="noStrike" dirty="0">
                <a:solidFill>
                  <a:srgbClr val="000000"/>
                </a:solidFill>
                <a:effectLst/>
              </a:rPr>
              <a:t>構造（各</a:t>
            </a:r>
            <a:r>
              <a:rPr lang="ja-JP" altLang="en-US" b="1" i="0" u="none" strike="noStrike">
                <a:solidFill>
                  <a:srgbClr val="000000"/>
                </a:solidFill>
                <a:effectLst/>
              </a:rPr>
              <a:t>ファイル</a:t>
            </a:r>
            <a:r>
              <a:rPr lang="zh-CN" altLang="en-US" b="1" i="0" u="none" strike="noStrike" dirty="0">
                <a:solidFill>
                  <a:srgbClr val="000000"/>
                </a:solidFill>
                <a:effectLst/>
              </a:rPr>
              <a:t>共通）</a:t>
            </a:r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71DB420F-5CFE-94FB-DFEC-58749798D5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0920915"/>
              </p:ext>
            </p:extLst>
          </p:nvPr>
        </p:nvGraphicFramePr>
        <p:xfrm>
          <a:off x="84362" y="3200400"/>
          <a:ext cx="5763545" cy="3657600"/>
        </p:xfrm>
        <a:graphic>
          <a:graphicData uri="http://schemas.openxmlformats.org/drawingml/2006/table">
            <a:tbl>
              <a:tblPr/>
              <a:tblGrid>
                <a:gridCol w="1998648">
                  <a:extLst>
                    <a:ext uri="{9D8B030D-6E8A-4147-A177-3AD203B41FA5}">
                      <a16:colId xmlns:a16="http://schemas.microsoft.com/office/drawing/2014/main" val="2395807038"/>
                    </a:ext>
                  </a:extLst>
                </a:gridCol>
                <a:gridCol w="3764897">
                  <a:extLst>
                    <a:ext uri="{9D8B030D-6E8A-4147-A177-3AD203B41FA5}">
                      <a16:colId xmlns:a16="http://schemas.microsoft.com/office/drawing/2014/main" val="28227263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ja-JP" altLang="en-US"/>
                        <a:t>カラム</a:t>
                      </a:r>
                      <a:r>
                        <a:rPr lang="zh-CN" altLang="en-US"/>
                        <a:t>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説明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6265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/>
                        <a:t>reviewerID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レビュワー</a:t>
                      </a:r>
                      <a:r>
                        <a:rPr lang="en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8129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/>
                        <a:t>asin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商品識別子（</a:t>
                      </a:r>
                      <a:r>
                        <a:rPr lang="en"/>
                        <a:t>ASIN）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125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/>
                        <a:t>reviewerName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レビュワー</a:t>
                      </a:r>
                      <a:r>
                        <a:rPr lang="zh-CN" altLang="en-US"/>
                        <a:t>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1640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 b="1"/>
                        <a:t>helpful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[</a:t>
                      </a:r>
                      <a:r>
                        <a:rPr lang="zh-CN" altLang="en-US" b="1" dirty="0"/>
                        <a:t>有益票数</a:t>
                      </a:r>
                      <a:r>
                        <a:rPr lang="en-US" altLang="zh-CN" b="1" dirty="0"/>
                        <a:t>, </a:t>
                      </a:r>
                      <a:r>
                        <a:rPr lang="zh-CN" altLang="en-US" b="1" dirty="0"/>
                        <a:t>総票数</a:t>
                      </a:r>
                      <a:r>
                        <a:rPr lang="en-US" altLang="zh-CN" b="1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428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 b="1" dirty="0" err="1"/>
                        <a:t>reviewText</a:t>
                      </a:r>
                      <a:endParaRPr lang="en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b="1"/>
                        <a:t>レビュー</a:t>
                      </a:r>
                      <a:r>
                        <a:rPr lang="zh-CN" altLang="en-US" b="1" dirty="0"/>
                        <a:t>本文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2669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 b="1"/>
                        <a:t>overall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 dirty="0"/>
                        <a:t>星評価（</a:t>
                      </a:r>
                      <a:r>
                        <a:rPr lang="en-US" altLang="zh-CN" b="1" dirty="0"/>
                        <a:t>1</a:t>
                      </a:r>
                      <a:r>
                        <a:rPr lang="zh-CN" altLang="en-US" b="1" dirty="0"/>
                        <a:t>～</a:t>
                      </a:r>
                      <a:r>
                        <a:rPr lang="en-US" altLang="zh-CN" b="1" dirty="0"/>
                        <a:t>5</a:t>
                      </a:r>
                      <a:r>
                        <a:rPr lang="zh-CN" altLang="en-US" b="1" dirty="0"/>
                        <a:t>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518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 dirty="0"/>
                        <a:t>summary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レビュー</a:t>
                      </a:r>
                      <a:r>
                        <a:rPr lang="zh-CN" altLang="en-US" dirty="0"/>
                        <a:t>見出</a:t>
                      </a:r>
                      <a:r>
                        <a:rPr lang="ja-JP" altLang="en-US"/>
                        <a:t>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0569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 dirty="0" err="1"/>
                        <a:t>unixReviewTime</a:t>
                      </a:r>
                      <a:endParaRPr lang="e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投稿日時（</a:t>
                      </a:r>
                      <a:r>
                        <a:rPr lang="en"/>
                        <a:t>UNIX</a:t>
                      </a:r>
                      <a:r>
                        <a:rPr lang="ja-JP" altLang="en-US"/>
                        <a:t>タイムスタンプ）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9412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 dirty="0" err="1"/>
                        <a:t>reviewTime</a:t>
                      </a:r>
                      <a:endParaRPr lang="e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投稿日時（</a:t>
                      </a:r>
                      <a:r>
                        <a:rPr lang="en" dirty="0"/>
                        <a:t>MM DD, YYYY）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6736156"/>
                  </a:ext>
                </a:extLst>
              </a:tr>
            </a:tbl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33B66FF1-1DCA-F176-C7AF-B2C4B25C2851}"/>
              </a:ext>
            </a:extLst>
          </p:cNvPr>
          <p:cNvSpPr txBox="1"/>
          <p:nvPr/>
        </p:nvSpPr>
        <p:spPr>
          <a:xfrm>
            <a:off x="6072960" y="1380411"/>
            <a:ext cx="35598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ja-JP" altLang="en-US" b="1" i="0" u="none" strike="noStrike">
                <a:solidFill>
                  <a:srgbClr val="000000"/>
                </a:solidFill>
                <a:effectLst/>
              </a:rPr>
              <a:t>データ</a:t>
            </a:r>
            <a:r>
              <a:rPr lang="zh-CN" altLang="en-US" b="1" i="0" u="none" strike="noStrike" dirty="0">
                <a:solidFill>
                  <a:srgbClr val="000000"/>
                </a:solidFill>
                <a:effectLst/>
              </a:rPr>
              <a:t>件数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ja-JP" altLang="en-US" b="0" i="0" u="none" strike="noStrike">
                <a:solidFill>
                  <a:srgbClr val="000000"/>
                </a:solidFill>
                <a:effectLst/>
              </a:rPr>
              <a:t>ヘアドライヤー</a:t>
            </a:r>
            <a:r>
              <a:rPr lang="en-US" altLang="ja-JP" b="0" i="0" u="none" strike="noStrike" dirty="0">
                <a:solidFill>
                  <a:srgbClr val="000000"/>
                </a:solidFill>
                <a:effectLst/>
              </a:rPr>
              <a:t>: </a:t>
            </a:r>
            <a:r>
              <a:rPr lang="ja-JP" altLang="en-US" b="0" i="0" u="none" strike="noStrike">
                <a:solidFill>
                  <a:srgbClr val="000000"/>
                </a:solidFill>
                <a:effectLst/>
              </a:rPr>
              <a:t>～</a:t>
            </a:r>
            <a:r>
              <a:rPr lang="en-US" altLang="ja-JP" b="0" i="0" u="none" strike="noStrike" dirty="0">
                <a:solidFill>
                  <a:srgbClr val="000000"/>
                </a:solidFill>
                <a:effectLst/>
              </a:rPr>
              <a:t>10,000</a:t>
            </a:r>
            <a:r>
              <a:rPr lang="zh-CN" altLang="en-US" b="0" i="0" u="none" strike="noStrike" dirty="0">
                <a:solidFill>
                  <a:srgbClr val="000000"/>
                </a:solidFill>
                <a:effectLst/>
              </a:rPr>
              <a:t>件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u="none" strike="noStrike" dirty="0">
                <a:solidFill>
                  <a:srgbClr val="000000"/>
                </a:solidFill>
                <a:effectLst/>
              </a:rPr>
              <a:t>電子</a:t>
            </a:r>
            <a:r>
              <a:rPr lang="ja-JP" altLang="en-US" b="0" i="0" u="none" strike="noStrike">
                <a:solidFill>
                  <a:srgbClr val="000000"/>
                </a:solidFill>
                <a:effectLst/>
              </a:rPr>
              <a:t>レンジ</a:t>
            </a:r>
            <a:r>
              <a:rPr lang="en-US" altLang="ja-JP" b="0" i="0" u="none" strike="noStrike" dirty="0">
                <a:solidFill>
                  <a:srgbClr val="000000"/>
                </a:solidFill>
                <a:effectLst/>
              </a:rPr>
              <a:t>: </a:t>
            </a:r>
            <a:r>
              <a:rPr lang="ja-JP" altLang="en-US" b="0" i="0" u="none" strike="noStrike">
                <a:solidFill>
                  <a:srgbClr val="000000"/>
                </a:solidFill>
                <a:effectLst/>
              </a:rPr>
              <a:t>～</a:t>
            </a:r>
            <a:r>
              <a:rPr lang="en-US" altLang="ja-JP" b="0" i="0" u="none" strike="noStrike" dirty="0">
                <a:solidFill>
                  <a:srgbClr val="000000"/>
                </a:solidFill>
                <a:effectLst/>
              </a:rPr>
              <a:t>8,000</a:t>
            </a:r>
            <a:r>
              <a:rPr lang="zh-CN" altLang="en-US" b="0" i="0" u="none" strike="noStrike" dirty="0">
                <a:solidFill>
                  <a:srgbClr val="000000"/>
                </a:solidFill>
                <a:effectLst/>
              </a:rPr>
              <a:t>件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ja-JP" altLang="en-US" b="0" i="0" u="none" strike="noStrike">
                <a:solidFill>
                  <a:srgbClr val="000000"/>
                </a:solidFill>
                <a:effectLst/>
              </a:rPr>
              <a:t>おしゃぶり</a:t>
            </a:r>
            <a:r>
              <a:rPr lang="en-US" altLang="ja-JP" b="0" i="0" u="none" strike="noStrike" dirty="0">
                <a:solidFill>
                  <a:srgbClr val="000000"/>
                </a:solidFill>
                <a:effectLst/>
              </a:rPr>
              <a:t>: </a:t>
            </a:r>
            <a:r>
              <a:rPr lang="ja-JP" altLang="en-US" b="0" i="0" u="none" strike="noStrike">
                <a:solidFill>
                  <a:srgbClr val="000000"/>
                </a:solidFill>
                <a:effectLst/>
              </a:rPr>
              <a:t>～</a:t>
            </a:r>
            <a:r>
              <a:rPr lang="en-US" altLang="ja-JP" b="0" i="0" u="none" strike="noStrike" dirty="0">
                <a:solidFill>
                  <a:srgbClr val="000000"/>
                </a:solidFill>
                <a:effectLst/>
              </a:rPr>
              <a:t>5,000</a:t>
            </a:r>
            <a:r>
              <a:rPr lang="zh-CN" altLang="en-US" b="0" i="0" u="none" strike="noStrike" dirty="0">
                <a:solidFill>
                  <a:srgbClr val="000000"/>
                </a:solidFill>
                <a:effectLst/>
              </a:rPr>
              <a:t>件</a:t>
            </a:r>
          </a:p>
        </p:txBody>
      </p:sp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E5DC7CAA-2295-613B-D1A1-8B9A4C75DC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649683"/>
              </p:ext>
            </p:extLst>
          </p:nvPr>
        </p:nvGraphicFramePr>
        <p:xfrm>
          <a:off x="5993132" y="3211033"/>
          <a:ext cx="6198870" cy="2651760"/>
        </p:xfrm>
        <a:graphic>
          <a:graphicData uri="http://schemas.openxmlformats.org/drawingml/2006/table">
            <a:tbl>
              <a:tblPr/>
              <a:tblGrid>
                <a:gridCol w="1033145">
                  <a:extLst>
                    <a:ext uri="{9D8B030D-6E8A-4147-A177-3AD203B41FA5}">
                      <a16:colId xmlns:a16="http://schemas.microsoft.com/office/drawing/2014/main" val="785627449"/>
                    </a:ext>
                  </a:extLst>
                </a:gridCol>
                <a:gridCol w="1033145">
                  <a:extLst>
                    <a:ext uri="{9D8B030D-6E8A-4147-A177-3AD203B41FA5}">
                      <a16:colId xmlns:a16="http://schemas.microsoft.com/office/drawing/2014/main" val="2568258169"/>
                    </a:ext>
                  </a:extLst>
                </a:gridCol>
                <a:gridCol w="1033145">
                  <a:extLst>
                    <a:ext uri="{9D8B030D-6E8A-4147-A177-3AD203B41FA5}">
                      <a16:colId xmlns:a16="http://schemas.microsoft.com/office/drawing/2014/main" val="2090702475"/>
                    </a:ext>
                  </a:extLst>
                </a:gridCol>
                <a:gridCol w="1033145">
                  <a:extLst>
                    <a:ext uri="{9D8B030D-6E8A-4147-A177-3AD203B41FA5}">
                      <a16:colId xmlns:a16="http://schemas.microsoft.com/office/drawing/2014/main" val="1522401960"/>
                    </a:ext>
                  </a:extLst>
                </a:gridCol>
                <a:gridCol w="1033145">
                  <a:extLst>
                    <a:ext uri="{9D8B030D-6E8A-4147-A177-3AD203B41FA5}">
                      <a16:colId xmlns:a16="http://schemas.microsoft.com/office/drawing/2014/main" val="310826644"/>
                    </a:ext>
                  </a:extLst>
                </a:gridCol>
                <a:gridCol w="1033145">
                  <a:extLst>
                    <a:ext uri="{9D8B030D-6E8A-4147-A177-3AD203B41FA5}">
                      <a16:colId xmlns:a16="http://schemas.microsoft.com/office/drawing/2014/main" val="5490156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"/>
                        <a:t>reviewerID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"/>
                        <a:t>overall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" dirty="0"/>
                        <a:t>helpful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"/>
                        <a:t>reviewTime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"/>
                        <a:t>summary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"/>
                        <a:t>reviewText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9207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 dirty="0"/>
                        <a:t>A1B2C3D4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[10, 12]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01 05, 2020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" dirty="0"/>
                        <a:t>“Great Dryer!”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" dirty="0"/>
                        <a:t>“This hairdryer is powerful and very light.”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4934328"/>
                  </a:ext>
                </a:extLst>
              </a:tr>
            </a:tbl>
          </a:graphicData>
        </a:graphic>
      </p:graphicFrame>
      <p:sp>
        <p:nvSpPr>
          <p:cNvPr id="20" name="Rectangle 1">
            <a:extLst>
              <a:ext uri="{FF2B5EF4-FFF2-40B4-BE49-F238E27FC236}">
                <a16:creationId xmlns:a16="http://schemas.microsoft.com/office/drawing/2014/main" id="{49D0FDFD-111A-012A-F4AD-0A3B2634EF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3132" y="2817725"/>
            <a:ext cx="180049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サンプルデータ</a:t>
            </a:r>
          </a:p>
        </p:txBody>
      </p:sp>
    </p:spTree>
    <p:extLst>
      <p:ext uri="{BB962C8B-B14F-4D97-AF65-F5344CB8AC3E}">
        <p14:creationId xmlns:p14="http://schemas.microsoft.com/office/powerpoint/2010/main" val="2619579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592E7-326F-1AD9-473C-1C0DEB089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7CE2250-0D4C-F9AC-1420-23A8A93430EE}"/>
              </a:ext>
            </a:extLst>
          </p:cNvPr>
          <p:cNvSpPr/>
          <p:nvPr/>
        </p:nvSpPr>
        <p:spPr>
          <a:xfrm>
            <a:off x="0" y="0"/>
            <a:ext cx="12192000" cy="13255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C3FD4AB-B0B7-7785-3D04-3D475F881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" y="-1"/>
            <a:ext cx="10515600" cy="1325563"/>
          </a:xfrm>
        </p:spPr>
        <p:txBody>
          <a:bodyPr/>
          <a:lstStyle/>
          <a:p>
            <a:r>
              <a:rPr kumimoji="1" lang="zh-CN" altLang="en-US" b="1" dirty="0">
                <a:solidFill>
                  <a:schemeClr val="bg1"/>
                </a:solidFill>
              </a:rPr>
              <a:t>ワークフロー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BD1CFE-F144-6CA1-CDC7-4A5E76AAA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16" y="1416380"/>
            <a:ext cx="6326427" cy="403236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zh-CN" altLang="en-US" sz="2400" b="1" dirty="0"/>
              <a:t>背景・課題意識</a:t>
            </a:r>
          </a:p>
          <a:p>
            <a:r>
              <a:rPr lang="ja-JP" altLang="en-US" sz="2400"/>
              <a:t>オンラインショッピングにおいて、</a:t>
            </a:r>
            <a:r>
              <a:rPr lang="zh-CN" altLang="en-US" sz="2400" dirty="0"/>
              <a:t>製品</a:t>
            </a:r>
            <a:r>
              <a:rPr lang="ja-JP" altLang="en-US" sz="2400"/>
              <a:t>の</a:t>
            </a:r>
            <a:r>
              <a:rPr lang="zh-CN" altLang="en-US" sz="2400" dirty="0"/>
              <a:t>品質把握</a:t>
            </a:r>
            <a:r>
              <a:rPr lang="ja-JP" altLang="en-US" sz="2400"/>
              <a:t>が</a:t>
            </a:r>
            <a:r>
              <a:rPr lang="zh-CN" altLang="en-US" sz="2400" dirty="0"/>
              <a:t>困難</a:t>
            </a:r>
          </a:p>
          <a:p>
            <a:r>
              <a:rPr lang="ja-JP" altLang="en-US" sz="2400"/>
              <a:t>レビュー・</a:t>
            </a:r>
            <a:r>
              <a:rPr lang="zh-CN" altLang="en-US" sz="2400" dirty="0"/>
              <a:t>評価・役立</a:t>
            </a:r>
            <a:r>
              <a:rPr lang="ja-JP" altLang="en-US" sz="2400"/>
              <a:t>ち</a:t>
            </a:r>
            <a:r>
              <a:rPr lang="zh-CN" altLang="en-US" sz="2400" dirty="0"/>
              <a:t>度</a:t>
            </a:r>
            <a:r>
              <a:rPr lang="ja-JP" altLang="en-US" sz="2400"/>
              <a:t>の</a:t>
            </a:r>
            <a:r>
              <a:rPr lang="zh-CN" altLang="en-US" sz="2400" dirty="0"/>
              <a:t>三者関係</a:t>
            </a:r>
            <a:r>
              <a:rPr lang="ja-JP" altLang="en-US" sz="2400"/>
              <a:t>の</a:t>
            </a:r>
            <a:r>
              <a:rPr lang="zh-CN" altLang="en-US" sz="2400" dirty="0"/>
              <a:t>把握</a:t>
            </a:r>
            <a:r>
              <a:rPr lang="ja-JP" altLang="en-US" sz="2400"/>
              <a:t>が</a:t>
            </a:r>
            <a:r>
              <a:rPr lang="zh-CN" altLang="en-US" sz="2400" dirty="0"/>
              <a:t>重要</a:t>
            </a:r>
          </a:p>
          <a:p>
            <a:r>
              <a:rPr lang="ja-JP" altLang="en-US" sz="2400"/>
              <a:t>クライアント「</a:t>
            </a:r>
            <a:r>
              <a:rPr lang="en" altLang="zh-CN" sz="2400" dirty="0"/>
              <a:t>Sunshine</a:t>
            </a:r>
            <a:r>
              <a:rPr lang="zh-CN" altLang="en-US" sz="2400" dirty="0"/>
              <a:t>社」</a:t>
            </a:r>
            <a:r>
              <a:rPr lang="ja-JP" altLang="en-US" sz="2400"/>
              <a:t>の</a:t>
            </a:r>
            <a:r>
              <a:rPr lang="zh-CN" altLang="en-US" sz="2400" dirty="0"/>
              <a:t>販売戦略立案</a:t>
            </a:r>
            <a:r>
              <a:rPr lang="ja-JP" altLang="en-US" sz="2400"/>
              <a:t>を</a:t>
            </a:r>
            <a:r>
              <a:rPr lang="zh-CN" altLang="en-US" sz="2400" dirty="0"/>
              <a:t>支援</a:t>
            </a:r>
          </a:p>
          <a:p>
            <a:pPr marL="0" indent="0">
              <a:buNone/>
            </a:pPr>
            <a:r>
              <a:rPr lang="zh-CN" altLang="en-US" sz="2400" b="1" dirty="0"/>
              <a:t>研究課題</a:t>
            </a:r>
            <a:r>
              <a:rPr lang="ja-JP" altLang="en-US" sz="2400" b="1"/>
              <a:t>の</a:t>
            </a:r>
            <a:r>
              <a:rPr lang="zh-CN" altLang="en-US" sz="2400" b="1" dirty="0"/>
              <a:t>再定義</a:t>
            </a:r>
          </a:p>
          <a:p>
            <a:r>
              <a:rPr lang="ja-JP" altLang="en-US" sz="2400" b="1"/>
              <a:t>レビュー</a:t>
            </a:r>
            <a:r>
              <a:rPr lang="zh-CN" altLang="en-US" sz="2400" b="1" dirty="0"/>
              <a:t>内容 </a:t>
            </a:r>
            <a:r>
              <a:rPr lang="en-US" altLang="zh-CN" sz="2400" b="1" dirty="0"/>
              <a:t>× </a:t>
            </a:r>
            <a:r>
              <a:rPr lang="zh-CN" altLang="en-US" sz="2400" b="1" dirty="0"/>
              <a:t>星評価 </a:t>
            </a:r>
            <a:r>
              <a:rPr lang="en-US" altLang="zh-CN" sz="2400" b="1" dirty="0"/>
              <a:t>× </a:t>
            </a:r>
            <a:r>
              <a:rPr lang="en" altLang="zh-CN" sz="2400" b="1" dirty="0"/>
              <a:t>Helpful</a:t>
            </a:r>
            <a:r>
              <a:rPr lang="en" altLang="zh-CN" sz="2400" dirty="0"/>
              <a:t> </a:t>
            </a:r>
            <a:r>
              <a:rPr lang="ja-JP" altLang="en-US" sz="2400"/>
              <a:t>の</a:t>
            </a:r>
            <a:r>
              <a:rPr lang="zh-CN" altLang="en-US" sz="2400" dirty="0"/>
              <a:t>内在関係</a:t>
            </a:r>
            <a:r>
              <a:rPr lang="ja-JP" altLang="en-US" sz="2400"/>
              <a:t>を</a:t>
            </a:r>
            <a:r>
              <a:rPr lang="zh-CN" altLang="en-US" sz="2400" dirty="0"/>
              <a:t>解明</a:t>
            </a:r>
          </a:p>
          <a:p>
            <a:r>
              <a:rPr lang="zh-CN" altLang="en-US" sz="2400" dirty="0"/>
              <a:t>市場</a:t>
            </a:r>
            <a:r>
              <a:rPr lang="ja-JP" altLang="en-US" sz="2400"/>
              <a:t>トレンドを</a:t>
            </a:r>
            <a:r>
              <a:rPr lang="zh-CN" altLang="en-US" sz="2400" dirty="0"/>
              <a:t>捉</a:t>
            </a:r>
            <a:r>
              <a:rPr lang="ja-JP" altLang="en-US" sz="2400"/>
              <a:t>える </a:t>
            </a:r>
            <a:r>
              <a:rPr lang="zh-CN" altLang="en-US" sz="2400" b="1" dirty="0"/>
              <a:t>定量指標</a:t>
            </a:r>
            <a:r>
              <a:rPr lang="zh-CN" altLang="en-US" sz="2400" dirty="0"/>
              <a:t> </a:t>
            </a:r>
            <a:r>
              <a:rPr lang="ja-JP" altLang="en-US" sz="2400"/>
              <a:t>を</a:t>
            </a:r>
            <a:r>
              <a:rPr lang="zh-CN" altLang="en-US" sz="2400" dirty="0"/>
              <a:t>設計</a:t>
            </a:r>
          </a:p>
          <a:p>
            <a:r>
              <a:rPr lang="zh-CN" altLang="en-US" sz="2400" dirty="0"/>
              <a:t>製品評判</a:t>
            </a:r>
            <a:r>
              <a:rPr lang="ja-JP" altLang="en-US" sz="2400"/>
              <a:t>の </a:t>
            </a:r>
            <a:r>
              <a:rPr lang="zh-CN" altLang="en-US" sz="2400" b="1" dirty="0"/>
              <a:t>時間変化</a:t>
            </a:r>
            <a:r>
              <a:rPr lang="ja-JP" altLang="en-US" sz="2400" b="1"/>
              <a:t>パターン</a:t>
            </a:r>
            <a:r>
              <a:rPr lang="ja-JP" altLang="en-US" sz="2400"/>
              <a:t> をモデル</a:t>
            </a:r>
            <a:r>
              <a:rPr lang="zh-CN" altLang="en-US" sz="2400" dirty="0"/>
              <a:t>化</a:t>
            </a:r>
          </a:p>
          <a:p>
            <a:endParaRPr lang="en-US" altLang="ja-JP" sz="2400" b="1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089A3D7-784B-76A6-45FC-D5A5BF54B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83222" y="6356350"/>
            <a:ext cx="2743200" cy="365125"/>
          </a:xfrm>
        </p:spPr>
        <p:txBody>
          <a:bodyPr/>
          <a:lstStyle/>
          <a:p>
            <a:fld id="{D3653C53-F4C1-CB48-9843-4ABFBD5C54B6}" type="slidenum">
              <a:rPr kumimoji="1" lang="zh-CN" altLang="en-US" smtClean="0"/>
              <a:t>4</a:t>
            </a:fld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C89EB50-5642-4982-C5B1-9EA8F35F46D2}"/>
              </a:ext>
            </a:extLst>
          </p:cNvPr>
          <p:cNvSpPr txBox="1"/>
          <p:nvPr/>
        </p:nvSpPr>
        <p:spPr>
          <a:xfrm>
            <a:off x="8269942" y="1361377"/>
            <a:ext cx="15848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1" dirty="0"/>
              <a:t>解析</a:t>
            </a:r>
            <a:r>
              <a:rPr lang="ja-JP" altLang="en-US" sz="2200" b="1"/>
              <a:t>フロー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54C9652-827B-FA42-4543-68561BB67222}"/>
              </a:ext>
            </a:extLst>
          </p:cNvPr>
          <p:cNvSpPr/>
          <p:nvPr/>
        </p:nvSpPr>
        <p:spPr>
          <a:xfrm>
            <a:off x="8269942" y="1841213"/>
            <a:ext cx="3543176" cy="57446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200">
                <a:solidFill>
                  <a:schemeClr val="tx1"/>
                </a:solidFill>
              </a:rPr>
              <a:t>データクレンジング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7363AC2-FD5E-A14B-544A-3C5E36215D55}"/>
              </a:ext>
            </a:extLst>
          </p:cNvPr>
          <p:cNvSpPr/>
          <p:nvPr/>
        </p:nvSpPr>
        <p:spPr>
          <a:xfrm>
            <a:off x="8269942" y="2807169"/>
            <a:ext cx="3543176" cy="57446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200">
                <a:solidFill>
                  <a:schemeClr val="tx1"/>
                </a:solidFill>
              </a:rPr>
              <a:t>テキスト</a:t>
            </a:r>
            <a:r>
              <a:rPr lang="zh-CN" altLang="en-US" sz="2200" dirty="0">
                <a:solidFill>
                  <a:schemeClr val="tx1"/>
                </a:solidFill>
              </a:rPr>
              <a:t>感情分析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algn="ctr"/>
            <a:r>
              <a:rPr lang="zh-CN" altLang="en-US" sz="2200" dirty="0">
                <a:solidFill>
                  <a:schemeClr val="tx1"/>
                </a:solidFill>
              </a:rPr>
              <a:t>（</a:t>
            </a:r>
            <a:r>
              <a:rPr lang="en" altLang="zh-CN" sz="2200" dirty="0">
                <a:solidFill>
                  <a:schemeClr val="tx1"/>
                </a:solidFill>
              </a:rPr>
              <a:t>TF-IDF</a:t>
            </a:r>
            <a:r>
              <a:rPr lang="zh-CN" altLang="en" sz="2200" dirty="0">
                <a:solidFill>
                  <a:schemeClr val="tx1"/>
                </a:solidFill>
              </a:rPr>
              <a:t>＋</a:t>
            </a:r>
            <a:r>
              <a:rPr lang="ja-JP" altLang="en-US" sz="2200">
                <a:solidFill>
                  <a:schemeClr val="tx1"/>
                </a:solidFill>
              </a:rPr>
              <a:t>ファジィ</a:t>
            </a:r>
            <a:r>
              <a:rPr lang="zh-CN" altLang="en-US" sz="2200" dirty="0">
                <a:solidFill>
                  <a:schemeClr val="tx1"/>
                </a:solidFill>
              </a:rPr>
              <a:t>辞書）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7A10079-1B1B-2F7E-4DA6-99F6E23194DD}"/>
              </a:ext>
            </a:extLst>
          </p:cNvPr>
          <p:cNvSpPr/>
          <p:nvPr/>
        </p:nvSpPr>
        <p:spPr>
          <a:xfrm>
            <a:off x="8269942" y="3817504"/>
            <a:ext cx="3543176" cy="62090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dirty="0">
                <a:solidFill>
                  <a:schemeClr val="tx1"/>
                </a:solidFill>
              </a:rPr>
              <a:t>特徴量</a:t>
            </a:r>
            <a:r>
              <a:rPr lang="ja-JP" altLang="en-US" sz="2200">
                <a:solidFill>
                  <a:schemeClr val="tx1"/>
                </a:solidFill>
              </a:rPr>
              <a:t>エンジニアリング</a:t>
            </a:r>
            <a:endParaRPr lang="en-US" altLang="ja-JP" sz="2200" dirty="0">
              <a:solidFill>
                <a:schemeClr val="tx1"/>
              </a:solidFill>
            </a:endParaRPr>
          </a:p>
          <a:p>
            <a:pPr algn="ctr"/>
            <a:r>
              <a:rPr lang="ja-JP" altLang="en-US" sz="2200">
                <a:solidFill>
                  <a:schemeClr val="tx1"/>
                </a:solidFill>
              </a:rPr>
              <a:t>（</a:t>
            </a:r>
            <a:r>
              <a:rPr lang="zh-CN" altLang="en-US" sz="2200" dirty="0">
                <a:solidFill>
                  <a:schemeClr val="tx1"/>
                </a:solidFill>
              </a:rPr>
              <a:t>情報</a:t>
            </a:r>
            <a:r>
              <a:rPr lang="ja-JP" altLang="en-US" sz="2200">
                <a:solidFill>
                  <a:schemeClr val="tx1"/>
                </a:solidFill>
              </a:rPr>
              <a:t>エントロピー</a:t>
            </a:r>
            <a:r>
              <a:rPr lang="zh-CN" altLang="en-US" sz="2200" dirty="0">
                <a:solidFill>
                  <a:schemeClr val="tx1"/>
                </a:solidFill>
              </a:rPr>
              <a:t>等）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3762B28-04BF-DDA2-E441-EA7E4B2DACE2}"/>
              </a:ext>
            </a:extLst>
          </p:cNvPr>
          <p:cNvSpPr/>
          <p:nvPr/>
        </p:nvSpPr>
        <p:spPr>
          <a:xfrm>
            <a:off x="8269942" y="4874273"/>
            <a:ext cx="3543176" cy="57446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200">
                <a:solidFill>
                  <a:schemeClr val="tx1"/>
                </a:solidFill>
              </a:rPr>
              <a:t>ポアソン</a:t>
            </a:r>
            <a:r>
              <a:rPr lang="zh-CN" altLang="en-US" sz="2200" dirty="0">
                <a:solidFill>
                  <a:schemeClr val="tx1"/>
                </a:solidFill>
              </a:rPr>
              <a:t>過程</a:t>
            </a:r>
            <a:r>
              <a:rPr lang="ja-JP" altLang="en-US" sz="2200">
                <a:solidFill>
                  <a:schemeClr val="tx1"/>
                </a:solidFill>
              </a:rPr>
              <a:t>による</a:t>
            </a:r>
            <a:r>
              <a:rPr lang="zh-CN" altLang="en-US" sz="2200" dirty="0">
                <a:solidFill>
                  <a:schemeClr val="tx1"/>
                </a:solidFill>
              </a:rPr>
              <a:t>時系列解析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74C3DD3-D952-53EE-CFED-9D3C9BB3AFB9}"/>
              </a:ext>
            </a:extLst>
          </p:cNvPr>
          <p:cNvSpPr/>
          <p:nvPr/>
        </p:nvSpPr>
        <p:spPr>
          <a:xfrm>
            <a:off x="8269942" y="5884609"/>
            <a:ext cx="3543176" cy="57446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200">
                <a:solidFill>
                  <a:schemeClr val="tx1"/>
                </a:solidFill>
              </a:rPr>
              <a:t>インサイト</a:t>
            </a:r>
            <a:r>
              <a:rPr lang="zh-CN" altLang="en-US" sz="2200" dirty="0">
                <a:solidFill>
                  <a:schemeClr val="tx1"/>
                </a:solidFill>
              </a:rPr>
              <a:t>抽出 </a:t>
            </a:r>
            <a:r>
              <a:rPr lang="en-US" altLang="zh-CN" sz="2200" dirty="0">
                <a:solidFill>
                  <a:schemeClr val="tx1"/>
                </a:solidFill>
              </a:rPr>
              <a:t>&amp; </a:t>
            </a:r>
            <a:r>
              <a:rPr lang="zh-CN" altLang="en-US" sz="2200" dirty="0">
                <a:solidFill>
                  <a:schemeClr val="tx1"/>
                </a:solidFill>
              </a:rPr>
              <a:t>提言</a:t>
            </a:r>
          </a:p>
        </p:txBody>
      </p:sp>
      <p:sp>
        <p:nvSpPr>
          <p:cNvPr id="22" name="下箭头 21">
            <a:extLst>
              <a:ext uri="{FF2B5EF4-FFF2-40B4-BE49-F238E27FC236}">
                <a16:creationId xmlns:a16="http://schemas.microsoft.com/office/drawing/2014/main" id="{76B6DD06-E366-EA2F-6D36-44CE3CC39302}"/>
              </a:ext>
            </a:extLst>
          </p:cNvPr>
          <p:cNvSpPr/>
          <p:nvPr/>
        </p:nvSpPr>
        <p:spPr>
          <a:xfrm>
            <a:off x="9876988" y="2415681"/>
            <a:ext cx="329084" cy="39148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下箭头 22">
            <a:extLst>
              <a:ext uri="{FF2B5EF4-FFF2-40B4-BE49-F238E27FC236}">
                <a16:creationId xmlns:a16="http://schemas.microsoft.com/office/drawing/2014/main" id="{05FDDA7B-BFB1-B5F5-82DA-99524D84AABE}"/>
              </a:ext>
            </a:extLst>
          </p:cNvPr>
          <p:cNvSpPr/>
          <p:nvPr/>
        </p:nvSpPr>
        <p:spPr>
          <a:xfrm>
            <a:off x="9876988" y="3403826"/>
            <a:ext cx="329084" cy="39148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下箭头 23">
            <a:extLst>
              <a:ext uri="{FF2B5EF4-FFF2-40B4-BE49-F238E27FC236}">
                <a16:creationId xmlns:a16="http://schemas.microsoft.com/office/drawing/2014/main" id="{BB445C60-0C06-3336-E529-F6F44CF4BC15}"/>
              </a:ext>
            </a:extLst>
          </p:cNvPr>
          <p:cNvSpPr/>
          <p:nvPr/>
        </p:nvSpPr>
        <p:spPr>
          <a:xfrm>
            <a:off x="9881225" y="4445319"/>
            <a:ext cx="329084" cy="39148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下箭头 24">
            <a:extLst>
              <a:ext uri="{FF2B5EF4-FFF2-40B4-BE49-F238E27FC236}">
                <a16:creationId xmlns:a16="http://schemas.microsoft.com/office/drawing/2014/main" id="{45BBDD1F-0B19-ED24-3431-BBD8C49E4A76}"/>
              </a:ext>
            </a:extLst>
          </p:cNvPr>
          <p:cNvSpPr/>
          <p:nvPr/>
        </p:nvSpPr>
        <p:spPr>
          <a:xfrm>
            <a:off x="9876988" y="5452793"/>
            <a:ext cx="329084" cy="39148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7" name="图片 26" descr="图示&#10;&#10;AI 生成的内容可能不正确。">
            <a:extLst>
              <a:ext uri="{FF2B5EF4-FFF2-40B4-BE49-F238E27FC236}">
                <a16:creationId xmlns:a16="http://schemas.microsoft.com/office/drawing/2014/main" id="{A2A9957B-3CEE-C015-CF41-F18A760AE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" y="5161507"/>
            <a:ext cx="6327903" cy="1466995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376AFAB1-5D50-4290-E241-ABB7D37B3DAF}"/>
              </a:ext>
            </a:extLst>
          </p:cNvPr>
          <p:cNvSpPr txBox="1"/>
          <p:nvPr/>
        </p:nvSpPr>
        <p:spPr>
          <a:xfrm>
            <a:off x="618597" y="6538912"/>
            <a:ext cx="6180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評価・</a:t>
            </a:r>
            <a:r>
              <a:rPr lang="ja-JP" altLang="en-US" b="1"/>
              <a:t>レビュー・</a:t>
            </a:r>
            <a:r>
              <a:rPr lang="zh-CN" altLang="en-US" b="1" dirty="0"/>
              <a:t>役立</a:t>
            </a:r>
            <a:r>
              <a:rPr lang="ja-JP" altLang="en-US" b="1"/>
              <a:t>ち</a:t>
            </a:r>
            <a:r>
              <a:rPr lang="zh-CN" altLang="en-US" b="1" dirty="0"/>
              <a:t>度</a:t>
            </a:r>
            <a:r>
              <a:rPr lang="ja-JP" altLang="en-US" b="1"/>
              <a:t>の</a:t>
            </a:r>
            <a:r>
              <a:rPr lang="zh-CN" altLang="en-US" b="1" dirty="0"/>
              <a:t>関係性</a:t>
            </a:r>
            <a:r>
              <a:rPr lang="zh-CN" altLang="en-US" dirty="0"/>
              <a:t> 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24F9C0C-99FA-78BC-2CE4-19831005558E}"/>
              </a:ext>
            </a:extLst>
          </p:cNvPr>
          <p:cNvSpPr/>
          <p:nvPr/>
        </p:nvSpPr>
        <p:spPr>
          <a:xfrm>
            <a:off x="8194155" y="1761429"/>
            <a:ext cx="3694750" cy="17723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33876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575177-8828-B5E3-CF09-25D7987E2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0F32D-2BCF-9542-B6BB-59E0871A602A}" type="datetime1">
              <a:rPr kumimoji="1" lang="zh-CN" altLang="en-US" smtClean="0"/>
              <a:t>2025/7/8</a:t>
            </a:fld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F85B3FD-A18D-1540-C546-5BEE6B024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53C53-F4C1-CB48-9843-4ABFBD5C54B6}" type="slidenum">
              <a:rPr kumimoji="1" lang="zh-CN" altLang="en-US" smtClean="0"/>
              <a:t>5</a:t>
            </a:fld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71F28A3-9436-EFFD-B361-827F810B45A4}"/>
              </a:ext>
            </a:extLst>
          </p:cNvPr>
          <p:cNvSpPr/>
          <p:nvPr/>
        </p:nvSpPr>
        <p:spPr>
          <a:xfrm>
            <a:off x="0" y="0"/>
            <a:ext cx="12192000" cy="13255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F82FF37F-8DD5-F7F4-0BC4-48E25B11D2C2}"/>
              </a:ext>
            </a:extLst>
          </p:cNvPr>
          <p:cNvSpPr txBox="1">
            <a:spLocks/>
          </p:cNvSpPr>
          <p:nvPr/>
        </p:nvSpPr>
        <p:spPr>
          <a:xfrm>
            <a:off x="95250" y="-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b="1">
                <a:solidFill>
                  <a:schemeClr val="bg1"/>
                </a:solidFill>
              </a:rPr>
              <a:t>データクレンジングとキーワード</a:t>
            </a:r>
            <a:r>
              <a:rPr lang="zh-CN" altLang="en-US" b="1" dirty="0">
                <a:solidFill>
                  <a:schemeClr val="bg1"/>
                </a:solidFill>
              </a:rPr>
              <a:t>抽出</a:t>
            </a:r>
            <a:endParaRPr lang="ja-JP" altLang="en-US" b="1">
              <a:solidFill>
                <a:schemeClr val="bg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E5D0CDC-2D9E-4928-F417-5928A46737C6}"/>
              </a:ext>
            </a:extLst>
          </p:cNvPr>
          <p:cNvSpPr txBox="1"/>
          <p:nvPr/>
        </p:nvSpPr>
        <p:spPr>
          <a:xfrm>
            <a:off x="488577" y="1442399"/>
            <a:ext cx="4728882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2200" b="1"/>
              <a:t>データクレンジング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200" dirty="0"/>
              <a:t>欠損・</a:t>
            </a:r>
            <a:r>
              <a:rPr lang="ja-JP" altLang="en-US" sz="2200"/>
              <a:t>ずれ</a:t>
            </a:r>
            <a:r>
              <a:rPr lang="zh-CN" altLang="en-US" sz="2200" dirty="0"/>
              <a:t>行</a:t>
            </a:r>
            <a:r>
              <a:rPr lang="ja-JP" altLang="en-US" sz="2200"/>
              <a:t>を</a:t>
            </a:r>
            <a:r>
              <a:rPr lang="zh-CN" altLang="en-US" sz="2200" dirty="0"/>
              <a:t>削除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altLang="zh-CN" sz="2200" dirty="0"/>
              <a:t>HTML</a:t>
            </a:r>
            <a:r>
              <a:rPr lang="ja-JP" altLang="en-US" sz="2200"/>
              <a:t>タグ </a:t>
            </a:r>
            <a:r>
              <a:rPr lang="en-US" altLang="ja-JP" sz="2200" dirty="0"/>
              <a:t>&lt;</a:t>
            </a:r>
            <a:r>
              <a:rPr lang="en" altLang="zh-CN" sz="2200" dirty="0" err="1"/>
              <a:t>br</a:t>
            </a:r>
            <a:r>
              <a:rPr lang="en" altLang="zh-CN" sz="2200" dirty="0"/>
              <a:t>/&gt; </a:t>
            </a:r>
            <a:r>
              <a:rPr lang="ja-JP" altLang="en-US" sz="2200"/>
              <a:t>を</a:t>
            </a:r>
            <a:r>
              <a:rPr lang="zh-CN" altLang="en-US" sz="2200" dirty="0"/>
              <a:t>正規表現</a:t>
            </a:r>
            <a:r>
              <a:rPr lang="ja-JP" altLang="en-US" sz="2200"/>
              <a:t>で</a:t>
            </a:r>
            <a:r>
              <a:rPr lang="zh-CN" altLang="en-US" sz="2200" dirty="0"/>
              <a:t>除去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200" dirty="0"/>
              <a:t>異常</a:t>
            </a:r>
            <a:r>
              <a:rPr lang="ja-JP" altLang="en-US" sz="2200"/>
              <a:t>レビューは </a:t>
            </a:r>
            <a:r>
              <a:rPr lang="zh-CN" altLang="en-US" sz="2200" dirty="0"/>
              <a:t>後段</a:t>
            </a:r>
            <a:r>
              <a:rPr lang="ja-JP" altLang="en-US" sz="2200"/>
              <a:t>のモデル に</a:t>
            </a:r>
            <a:r>
              <a:rPr lang="zh-CN" altLang="en-US" sz="2200" dirty="0"/>
              <a:t>委</a:t>
            </a:r>
            <a:r>
              <a:rPr lang="ja-JP" altLang="en-US" sz="2200"/>
              <a:t>ね、</a:t>
            </a:r>
            <a:r>
              <a:rPr lang="zh-CN" altLang="en-US" sz="2200" dirty="0"/>
              <a:t>現段階</a:t>
            </a:r>
            <a:r>
              <a:rPr lang="ja-JP" altLang="en-US" sz="2200"/>
              <a:t>では</a:t>
            </a:r>
            <a:r>
              <a:rPr lang="zh-CN" altLang="en-US" sz="2200" dirty="0"/>
              <a:t>保持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200" dirty="0"/>
              <a:t>数値列（</a:t>
            </a:r>
            <a:r>
              <a:rPr lang="en" altLang="zh-CN" sz="2200" dirty="0"/>
              <a:t>Rating, Votes </a:t>
            </a:r>
            <a:r>
              <a:rPr lang="zh-CN" altLang="en-US" sz="2200" dirty="0"/>
              <a:t>等）</a:t>
            </a:r>
            <a:r>
              <a:rPr lang="ja-JP" altLang="en-US" sz="2200"/>
              <a:t>を </a:t>
            </a:r>
            <a:r>
              <a:rPr lang="en" altLang="zh-CN" sz="2200" dirty="0"/>
              <a:t>Z-score </a:t>
            </a:r>
            <a:r>
              <a:rPr lang="zh-CN" altLang="en-US" sz="2200" dirty="0"/>
              <a:t>標準化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16D7C67-9F2D-82AB-4D31-E53655A1A49C}"/>
              </a:ext>
            </a:extLst>
          </p:cNvPr>
          <p:cNvSpPr txBox="1"/>
          <p:nvPr/>
        </p:nvSpPr>
        <p:spPr>
          <a:xfrm>
            <a:off x="488577" y="4112715"/>
            <a:ext cx="4728882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" altLang="zh-CN" sz="2200" b="1" dirty="0"/>
              <a:t>TF-IDF </a:t>
            </a:r>
            <a:r>
              <a:rPr lang="ja-JP" altLang="en-US" sz="2200" b="1"/>
              <a:t>によるキーワード</a:t>
            </a:r>
            <a:r>
              <a:rPr lang="zh-CN" altLang="en-US" sz="2200" b="1" dirty="0"/>
              <a:t>抽出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200" dirty="0"/>
              <a:t>3 </a:t>
            </a:r>
            <a:r>
              <a:rPr lang="ja-JP" altLang="en-US" sz="2200"/>
              <a:t>データセット（</a:t>
            </a:r>
            <a:r>
              <a:rPr lang="en" altLang="zh-CN" sz="2200" dirty="0"/>
              <a:t>Hairdryer / Microwave / Pacifier</a:t>
            </a:r>
            <a:r>
              <a:rPr lang="zh-CN" altLang="en" sz="2200" dirty="0"/>
              <a:t>）</a:t>
            </a:r>
            <a:r>
              <a:rPr lang="ja-JP" altLang="en-US" sz="2200"/>
              <a:t>を</a:t>
            </a:r>
            <a:r>
              <a:rPr lang="zh-CN" altLang="en-US" sz="2200" dirty="0"/>
              <a:t>横断分析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200" dirty="0"/>
              <a:t>高 </a:t>
            </a:r>
            <a:r>
              <a:rPr lang="en" altLang="zh-CN" sz="2200" dirty="0"/>
              <a:t>TF × </a:t>
            </a:r>
            <a:r>
              <a:rPr lang="zh-CN" altLang="en-US" sz="2200" dirty="0"/>
              <a:t>高 </a:t>
            </a:r>
            <a:r>
              <a:rPr lang="en" altLang="zh-CN" sz="2200" dirty="0"/>
              <a:t>IDF → </a:t>
            </a:r>
            <a:r>
              <a:rPr lang="zh-CN" altLang="en-US" sz="2200" dirty="0"/>
              <a:t>製品特有語</a:t>
            </a:r>
            <a:r>
              <a:rPr lang="ja-JP" altLang="en-US" sz="2200"/>
              <a:t>を</a:t>
            </a:r>
            <a:r>
              <a:rPr lang="zh-CN" altLang="en-US" sz="2200" dirty="0"/>
              <a:t>抽出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altLang="zh-CN" sz="2200" dirty="0"/>
              <a:t>Stop Words </a:t>
            </a:r>
            <a:r>
              <a:rPr lang="ja-JP" altLang="en-US" sz="2200"/>
              <a:t>はアルゴリズム＋</a:t>
            </a:r>
            <a:r>
              <a:rPr lang="zh-CN" altLang="en-US" sz="2200" dirty="0"/>
              <a:t>手動</a:t>
            </a:r>
            <a:r>
              <a:rPr lang="ja-JP" altLang="en-US" sz="2200"/>
              <a:t>で</a:t>
            </a:r>
            <a:r>
              <a:rPr lang="zh-CN" altLang="en-US" sz="2200" dirty="0"/>
              <a:t>除去</a:t>
            </a:r>
          </a:p>
          <a:p>
            <a:pPr>
              <a:buNone/>
            </a:pPr>
            <a:endParaRPr lang="zh-CN" altLang="en-US" dirty="0"/>
          </a:p>
        </p:txBody>
      </p:sp>
      <p:pic>
        <p:nvPicPr>
          <p:cNvPr id="19" name="图片 18" descr="文本&#10;&#10;AI 生成的内容可能不正确。">
            <a:extLst>
              <a:ext uri="{FF2B5EF4-FFF2-40B4-BE49-F238E27FC236}">
                <a16:creationId xmlns:a16="http://schemas.microsoft.com/office/drawing/2014/main" id="{A6D4DDC1-A81F-B2A5-A583-C27A7AF5E8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6977" y="1389287"/>
            <a:ext cx="1485900" cy="863600"/>
          </a:xfrm>
          <a:prstGeom prst="rect">
            <a:avLst/>
          </a:prstGeom>
        </p:spPr>
      </p:pic>
      <p:pic>
        <p:nvPicPr>
          <p:cNvPr id="21" name="图片 20" descr="形状&#10;&#10;AI 生成的内容可能不正确。">
            <a:extLst>
              <a:ext uri="{FF2B5EF4-FFF2-40B4-BE49-F238E27FC236}">
                <a16:creationId xmlns:a16="http://schemas.microsoft.com/office/drawing/2014/main" id="{64434F2E-9D87-76E4-0FE7-3338C634D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977" y="2153253"/>
            <a:ext cx="3479800" cy="927100"/>
          </a:xfrm>
          <a:prstGeom prst="rect">
            <a:avLst/>
          </a:prstGeom>
        </p:spPr>
      </p:pic>
      <p:pic>
        <p:nvPicPr>
          <p:cNvPr id="23" name="图片 22" descr="文本&#10;&#10;AI 生成的内容可能不正确。">
            <a:extLst>
              <a:ext uri="{FF2B5EF4-FFF2-40B4-BE49-F238E27FC236}">
                <a16:creationId xmlns:a16="http://schemas.microsoft.com/office/drawing/2014/main" id="{6A65A868-B4C0-828A-D033-5039816FE3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977" y="3104726"/>
            <a:ext cx="3073400" cy="546100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F5C9A9FF-940E-8AC0-B48C-796DB301B49C}"/>
              </a:ext>
            </a:extLst>
          </p:cNvPr>
          <p:cNvSpPr txBox="1"/>
          <p:nvPr/>
        </p:nvSpPr>
        <p:spPr>
          <a:xfrm>
            <a:off x="7144335" y="6240803"/>
            <a:ext cx="29325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各製品</a:t>
            </a:r>
            <a:r>
              <a:rPr lang="ja-JP" altLang="en-US" b="1"/>
              <a:t>の</a:t>
            </a:r>
            <a:r>
              <a:rPr lang="zh-CN" altLang="en-US" b="1" dirty="0"/>
              <a:t>代表的</a:t>
            </a:r>
            <a:r>
              <a:rPr lang="ja-JP" altLang="en-US" b="1"/>
              <a:t>な</a:t>
            </a:r>
            <a:r>
              <a:rPr lang="zh-CN" altLang="en-US" b="1" dirty="0"/>
              <a:t>単語 </a:t>
            </a:r>
          </a:p>
        </p:txBody>
      </p:sp>
      <p:pic>
        <p:nvPicPr>
          <p:cNvPr id="26" name="图片 25" descr="表格&#10;&#10;AI 生成的内容可能不正确。">
            <a:extLst>
              <a:ext uri="{FF2B5EF4-FFF2-40B4-BE49-F238E27FC236}">
                <a16:creationId xmlns:a16="http://schemas.microsoft.com/office/drawing/2014/main" id="{7C75BA4A-7D4F-A99B-33E5-BF9F0B90B5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977" y="3745486"/>
            <a:ext cx="6960564" cy="2400657"/>
          </a:xfrm>
          <a:prstGeom prst="rect">
            <a:avLst/>
          </a:prstGeom>
        </p:spPr>
      </p:pic>
      <p:pic>
        <p:nvPicPr>
          <p:cNvPr id="28" name="图片 27" descr="文本, 信件&#10;&#10;AI 生成的内容可能不正确。">
            <a:extLst>
              <a:ext uri="{FF2B5EF4-FFF2-40B4-BE49-F238E27FC236}">
                <a16:creationId xmlns:a16="http://schemas.microsoft.com/office/drawing/2014/main" id="{0507ED0E-7C12-1AC1-094C-BC7AA45A16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8794" y="1437216"/>
            <a:ext cx="3123827" cy="1912093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1E73D96E-38B8-BFC5-573A-038443A0B37E}"/>
              </a:ext>
            </a:extLst>
          </p:cNvPr>
          <p:cNvSpPr txBox="1"/>
          <p:nvPr/>
        </p:nvSpPr>
        <p:spPr>
          <a:xfrm>
            <a:off x="8943369" y="3348258"/>
            <a:ext cx="33349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電子</a:t>
            </a:r>
            <a:r>
              <a:rPr lang="ja-JP" altLang="en-US" b="1"/>
              <a:t>レンジのワードクラウド</a:t>
            </a:r>
            <a:r>
              <a:rPr lang="ja-JP" altLang="en-US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30051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546A13-F4CA-9CCF-56A3-B9DE2E12E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0F32D-2BCF-9542-B6BB-59E0871A602A}" type="datetime1">
              <a:rPr kumimoji="1" lang="zh-CN" altLang="en-US" smtClean="0"/>
              <a:t>2025/7/8</a:t>
            </a:fld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3739FA4-9506-0270-F188-8ABBA8DC0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26567"/>
            <a:ext cx="2743200" cy="365125"/>
          </a:xfrm>
        </p:spPr>
        <p:txBody>
          <a:bodyPr/>
          <a:lstStyle/>
          <a:p>
            <a:fld id="{D3653C53-F4C1-CB48-9843-4ABFBD5C54B6}" type="slidenum">
              <a:rPr kumimoji="1" lang="zh-CN" altLang="en-US" smtClean="0"/>
              <a:t>6</a:t>
            </a:fld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83109F1-B576-58E7-CCBC-2F79E3BD55F2}"/>
              </a:ext>
            </a:extLst>
          </p:cNvPr>
          <p:cNvSpPr/>
          <p:nvPr/>
        </p:nvSpPr>
        <p:spPr>
          <a:xfrm>
            <a:off x="0" y="0"/>
            <a:ext cx="12192000" cy="13255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4515348-1430-B0FC-3B3B-D77F198BC8FA}"/>
              </a:ext>
            </a:extLst>
          </p:cNvPr>
          <p:cNvSpPr txBox="1">
            <a:spLocks/>
          </p:cNvSpPr>
          <p:nvPr/>
        </p:nvSpPr>
        <p:spPr>
          <a:xfrm>
            <a:off x="95250" y="-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b="1">
                <a:solidFill>
                  <a:schemeClr val="bg1"/>
                </a:solidFill>
              </a:rPr>
              <a:t>ファジィシステムで</a:t>
            </a:r>
            <a:r>
              <a:rPr lang="zh-CN" altLang="en-US" b="1" dirty="0">
                <a:solidFill>
                  <a:schemeClr val="bg1"/>
                </a:solidFill>
              </a:rPr>
              <a:t>曖昧</a:t>
            </a:r>
            <a:r>
              <a:rPr lang="ja-JP" altLang="en-US" b="1">
                <a:solidFill>
                  <a:schemeClr val="bg1"/>
                </a:solidFill>
              </a:rPr>
              <a:t>な</a:t>
            </a:r>
            <a:r>
              <a:rPr lang="zh-CN" altLang="en-US" b="1" dirty="0">
                <a:solidFill>
                  <a:schemeClr val="bg1"/>
                </a:solidFill>
              </a:rPr>
              <a:t>感情</a:t>
            </a:r>
            <a:r>
              <a:rPr lang="ja-JP" altLang="en-US" b="1">
                <a:solidFill>
                  <a:schemeClr val="bg1"/>
                </a:solidFill>
              </a:rPr>
              <a:t>を</a:t>
            </a:r>
            <a:r>
              <a:rPr lang="zh-CN" altLang="en-US" b="1" dirty="0">
                <a:solidFill>
                  <a:schemeClr val="bg1"/>
                </a:solidFill>
              </a:rPr>
              <a:t>数値化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414A131-1028-1C10-0B8A-083B4A24CAD7}"/>
              </a:ext>
            </a:extLst>
          </p:cNvPr>
          <p:cNvSpPr txBox="1"/>
          <p:nvPr/>
        </p:nvSpPr>
        <p:spPr>
          <a:xfrm>
            <a:off x="95249" y="1374497"/>
            <a:ext cx="81016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限</a:t>
            </a:r>
            <a:r>
              <a:rPr lang="ja-JP" altLang="en-US"/>
              <a:t>られた★</a:t>
            </a:r>
            <a:r>
              <a:rPr lang="en-US" altLang="ja-JP" dirty="0"/>
              <a:t>1</a:t>
            </a:r>
            <a:r>
              <a:rPr lang="ja-JP" altLang="en-US"/>
              <a:t>～★</a:t>
            </a:r>
            <a:r>
              <a:rPr lang="en-US" altLang="ja-JP" dirty="0"/>
              <a:t>5</a:t>
            </a:r>
            <a:r>
              <a:rPr lang="ja-JP" altLang="en-US"/>
              <a:t>の</a:t>
            </a:r>
            <a:r>
              <a:rPr lang="zh-CN" altLang="en-US" dirty="0"/>
              <a:t>評価</a:t>
            </a:r>
            <a:r>
              <a:rPr lang="ja-JP" altLang="en-US"/>
              <a:t>レベルを</a:t>
            </a:r>
            <a:r>
              <a:rPr lang="zh-CN" altLang="en-US" dirty="0"/>
              <a:t>超</a:t>
            </a:r>
            <a:r>
              <a:rPr lang="ja-JP" altLang="en-US"/>
              <a:t>えて、レビュー</a:t>
            </a:r>
            <a:r>
              <a:rPr lang="zh-CN" altLang="en-US" dirty="0"/>
              <a:t>中</a:t>
            </a:r>
            <a:r>
              <a:rPr lang="ja-JP" altLang="en-US"/>
              <a:t>の“あいまいな</a:t>
            </a:r>
            <a:r>
              <a:rPr lang="zh-CN" altLang="en-US" dirty="0"/>
              <a:t>感情”</a:t>
            </a:r>
            <a:r>
              <a:rPr lang="ja-JP" altLang="en-US"/>
              <a:t>をより</a:t>
            </a:r>
            <a:r>
              <a:rPr lang="zh-CN" altLang="en-US" dirty="0"/>
              <a:t>細</a:t>
            </a:r>
            <a:r>
              <a:rPr lang="ja-JP" altLang="en-US"/>
              <a:t>かく</a:t>
            </a:r>
            <a:r>
              <a:rPr lang="zh-CN" altLang="en-US" dirty="0"/>
              <a:t>数値化」</a:t>
            </a:r>
            <a:r>
              <a:rPr lang="ja-JP" altLang="en-US"/>
              <a:t>するために、ファジィ</a:t>
            </a:r>
            <a:r>
              <a:rPr lang="zh-CN" altLang="en-US" dirty="0"/>
              <a:t>論理（</a:t>
            </a:r>
            <a:r>
              <a:rPr lang="en" altLang="zh-CN" dirty="0"/>
              <a:t>fuzzy logic</a:t>
            </a:r>
            <a:r>
              <a:rPr lang="zh-CN" altLang="en" dirty="0"/>
              <a:t>）</a:t>
            </a:r>
            <a:r>
              <a:rPr lang="ja-JP" altLang="en-US"/>
              <a:t>を</a:t>
            </a:r>
            <a:r>
              <a:rPr lang="zh-CN" altLang="en-US" dirty="0"/>
              <a:t>使</a:t>
            </a:r>
            <a:r>
              <a:rPr lang="ja-JP" altLang="en-US"/>
              <a:t>って「</a:t>
            </a:r>
            <a:r>
              <a:rPr lang="zh-CN" altLang="en-US" dirty="0"/>
              <a:t>単語</a:t>
            </a:r>
            <a:r>
              <a:rPr lang="ja-JP" altLang="en-US"/>
              <a:t>ごとの</a:t>
            </a:r>
            <a:r>
              <a:rPr lang="zh-CN" altLang="en-US" dirty="0"/>
              <a:t>感情辞書（</a:t>
            </a:r>
            <a:r>
              <a:rPr lang="en" altLang="zh-CN" dirty="0"/>
              <a:t>emotion dictionary</a:t>
            </a:r>
            <a:r>
              <a:rPr lang="zh-CN" altLang="en" dirty="0"/>
              <a:t>）」</a:t>
            </a:r>
            <a:r>
              <a:rPr lang="ja-JP" altLang="en-US"/>
              <a:t>を</a:t>
            </a:r>
            <a:r>
              <a:rPr lang="zh-CN" altLang="en-US" dirty="0"/>
              <a:t>構築</a:t>
            </a:r>
            <a:r>
              <a:rPr lang="ja-JP" altLang="en-US"/>
              <a:t>しています。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92CA1C0-E6B6-F0D6-0009-A80B783F4F0E}"/>
              </a:ext>
            </a:extLst>
          </p:cNvPr>
          <p:cNvSpPr txBox="1"/>
          <p:nvPr/>
        </p:nvSpPr>
        <p:spPr>
          <a:xfrm>
            <a:off x="95249" y="2297827"/>
            <a:ext cx="881528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ja-JP" b="1" dirty="0"/>
              <a:t>1. </a:t>
            </a:r>
            <a:r>
              <a:rPr lang="ja-JP" altLang="en-US" b="1"/>
              <a:t>データの</a:t>
            </a:r>
            <a:r>
              <a:rPr lang="zh-CN" altLang="en-US" b="1" dirty="0"/>
              <a:t>分割：訓練</a:t>
            </a:r>
            <a:r>
              <a:rPr lang="ja-JP" altLang="en-US" b="1"/>
              <a:t>グループ </a:t>
            </a:r>
            <a:r>
              <a:rPr lang="en" altLang="zh-CN" b="1" dirty="0"/>
              <a:t>vs. </a:t>
            </a:r>
            <a:r>
              <a:rPr lang="zh-CN" altLang="en-US" b="1" dirty="0"/>
              <a:t>検証</a:t>
            </a:r>
            <a:r>
              <a:rPr lang="ja-JP" altLang="en-US" b="1"/>
              <a:t>グループ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訓練</a:t>
            </a:r>
            <a:r>
              <a:rPr lang="ja-JP" altLang="en-US" b="1"/>
              <a:t>グループ（</a:t>
            </a:r>
            <a:r>
              <a:rPr lang="en" altLang="zh-CN" b="1" dirty="0"/>
              <a:t>Training</a:t>
            </a:r>
            <a:r>
              <a:rPr lang="zh-CN" altLang="en" b="1" dirty="0"/>
              <a:t>）</a:t>
            </a:r>
            <a:endParaRPr lang="en" altLang="zh-CN" dirty="0"/>
          </a:p>
          <a:p>
            <a:pPr>
              <a:buFont typeface="Arial" panose="020B0604020202020204" pitchFamily="34" charset="0"/>
              <a:buChar char="•"/>
            </a:pPr>
            <a:r>
              <a:rPr lang="en" altLang="zh-CN" dirty="0"/>
              <a:t>Helpful votes / Total votes</a:t>
            </a:r>
            <a:r>
              <a:rPr lang="zh-CN" altLang="en" dirty="0"/>
              <a:t>（＝</a:t>
            </a:r>
            <a:r>
              <a:rPr lang="zh-CN" altLang="en-US" dirty="0"/>
              <a:t>信頼度 </a:t>
            </a:r>
            <a:r>
              <a:rPr lang="en" altLang="zh-CN" dirty="0"/>
              <a:t>r</a:t>
            </a:r>
            <a:r>
              <a:rPr lang="zh-CN" altLang="en" dirty="0"/>
              <a:t>）</a:t>
            </a:r>
            <a:r>
              <a:rPr lang="ja-JP" altLang="en-US"/>
              <a:t>が</a:t>
            </a:r>
            <a:r>
              <a:rPr lang="zh-CN" altLang="en-US" dirty="0"/>
              <a:t>高</a:t>
            </a:r>
            <a:r>
              <a:rPr lang="ja-JP" altLang="en-US"/>
              <a:t>いレビューを</a:t>
            </a:r>
            <a:r>
              <a:rPr lang="zh-CN" altLang="en-US" dirty="0"/>
              <a:t>抽出。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検証</a:t>
            </a:r>
            <a:r>
              <a:rPr lang="ja-JP" altLang="en-US" b="1"/>
              <a:t>グループ（</a:t>
            </a:r>
            <a:r>
              <a:rPr lang="en" altLang="zh-CN" b="1" dirty="0"/>
              <a:t>Verifying</a:t>
            </a:r>
            <a:r>
              <a:rPr lang="zh-CN" altLang="en" b="1" dirty="0"/>
              <a:t>）</a:t>
            </a:r>
            <a:endParaRPr lang="en" altLang="zh-CN" dirty="0"/>
          </a:p>
          <a:p>
            <a:pPr>
              <a:buFont typeface="Arial" panose="020B0604020202020204" pitchFamily="34" charset="0"/>
              <a:buChar char="•"/>
            </a:pPr>
            <a:r>
              <a:rPr lang="en" altLang="zh-CN" dirty="0"/>
              <a:t>Total votes = 0 </a:t>
            </a:r>
            <a:r>
              <a:rPr lang="ja-JP" altLang="en-US"/>
              <a:t>のレビューを</a:t>
            </a:r>
            <a:r>
              <a:rPr lang="zh-CN" altLang="en-US" dirty="0"/>
              <a:t>抽出。</a:t>
            </a:r>
          </a:p>
          <a:p>
            <a:pPr>
              <a:buNone/>
            </a:pPr>
            <a:r>
              <a:rPr lang="ja-JP" altLang="en-US"/>
              <a:t>「</a:t>
            </a:r>
            <a:r>
              <a:rPr lang="zh-CN" altLang="en-US" dirty="0"/>
              <a:t>信頼</a:t>
            </a:r>
            <a:r>
              <a:rPr lang="ja-JP" altLang="en-US"/>
              <a:t>できるデータ」でファジィモデルを</a:t>
            </a:r>
            <a:r>
              <a:rPr lang="zh-CN" altLang="en-US" dirty="0"/>
              <a:t>学習</a:t>
            </a:r>
            <a:r>
              <a:rPr lang="ja-JP" altLang="en-US"/>
              <a:t>し、「</a:t>
            </a:r>
            <a:r>
              <a:rPr lang="zh-CN" altLang="en-US" dirty="0"/>
              <a:t>未知</a:t>
            </a:r>
            <a:r>
              <a:rPr lang="ja-JP" altLang="en-US"/>
              <a:t>のデータ」で</a:t>
            </a:r>
            <a:r>
              <a:rPr lang="zh-CN" altLang="en-US" dirty="0"/>
              <a:t>結果</a:t>
            </a:r>
            <a:r>
              <a:rPr lang="ja-JP" altLang="en-US"/>
              <a:t>をチェックできるようにします。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F89215B-B95D-4270-1CB2-C2A934BDD61A}"/>
              </a:ext>
            </a:extLst>
          </p:cNvPr>
          <p:cNvSpPr txBox="1"/>
          <p:nvPr/>
        </p:nvSpPr>
        <p:spPr>
          <a:xfrm>
            <a:off x="95249" y="4276754"/>
            <a:ext cx="61803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ja-JP" b="1" dirty="0"/>
              <a:t>2. </a:t>
            </a:r>
            <a:r>
              <a:rPr lang="ja-JP" altLang="en-US" b="1"/>
              <a:t>ファジィ</a:t>
            </a:r>
            <a:r>
              <a:rPr lang="zh-CN" altLang="en-US" b="1" dirty="0"/>
              <a:t>集合</a:t>
            </a:r>
            <a:r>
              <a:rPr lang="ja-JP" altLang="en-US" b="1"/>
              <a:t>と</a:t>
            </a:r>
            <a:r>
              <a:rPr lang="zh-CN" altLang="en-US" b="1" dirty="0"/>
              <a:t>隶属度関数</a:t>
            </a:r>
            <a:endParaRPr lang="en-US" altLang="zh-CN" b="1" dirty="0"/>
          </a:p>
          <a:p>
            <a:pPr>
              <a:buNone/>
            </a:pPr>
            <a:r>
              <a:rPr lang="ja-JP" altLang="en-US" b="1"/>
              <a:t>ファジィ</a:t>
            </a:r>
            <a:r>
              <a:rPr lang="zh-CN" altLang="en-US" b="1" dirty="0"/>
              <a:t>集合</a:t>
            </a:r>
            <a:endParaRPr lang="en-US" altLang="zh-CN" b="1" dirty="0"/>
          </a:p>
          <a:p>
            <a:pPr>
              <a:buFont typeface="+mj-lt"/>
              <a:buAutoNum type="arabicPeriod"/>
            </a:pPr>
            <a:endParaRPr lang="en-US" altLang="zh-CN" b="1" dirty="0"/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8D78169D-4C48-BC73-F07A-68E25B2AE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818" y="4917264"/>
            <a:ext cx="986053" cy="236653"/>
          </a:xfrm>
          <a:prstGeom prst="rect">
            <a:avLst/>
          </a:prstGeom>
        </p:spPr>
      </p:pic>
      <p:pic>
        <p:nvPicPr>
          <p:cNvPr id="35" name="图片 34" descr="图示, 形状&#10;&#10;AI 生成的内容可能不正确。">
            <a:extLst>
              <a:ext uri="{FF2B5EF4-FFF2-40B4-BE49-F238E27FC236}">
                <a16:creationId xmlns:a16="http://schemas.microsoft.com/office/drawing/2014/main" id="{9B370EE4-BC2E-CCC0-A62E-5F2F66B576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8894" y="2940969"/>
            <a:ext cx="2959100" cy="1905000"/>
          </a:xfrm>
          <a:prstGeom prst="rect">
            <a:avLst/>
          </a:prstGeom>
        </p:spPr>
      </p:pic>
      <p:sp>
        <p:nvSpPr>
          <p:cNvPr id="37" name="文本框 36">
            <a:extLst>
              <a:ext uri="{FF2B5EF4-FFF2-40B4-BE49-F238E27FC236}">
                <a16:creationId xmlns:a16="http://schemas.microsoft.com/office/drawing/2014/main" id="{381E1095-1F14-DF79-6216-B457C1A3D220}"/>
              </a:ext>
            </a:extLst>
          </p:cNvPr>
          <p:cNvSpPr txBox="1"/>
          <p:nvPr/>
        </p:nvSpPr>
        <p:spPr>
          <a:xfrm>
            <a:off x="8292193" y="4883150"/>
            <a:ext cx="35462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「★</a:t>
            </a:r>
            <a:r>
              <a:rPr lang="en-US" altLang="zh-CN" b="1" dirty="0"/>
              <a:t>4</a:t>
            </a:r>
            <a:r>
              <a:rPr lang="zh-CN" altLang="en-US" b="1" dirty="0"/>
              <a:t>」と「★</a:t>
            </a:r>
            <a:r>
              <a:rPr lang="en-US" altLang="zh-CN" b="1" dirty="0"/>
              <a:t>5</a:t>
            </a:r>
            <a:r>
              <a:rPr lang="zh-CN" altLang="en-US" b="1" dirty="0"/>
              <a:t>」</a:t>
            </a:r>
            <a:r>
              <a:rPr lang="ja-JP" altLang="en-US" b="1"/>
              <a:t>ファジィ</a:t>
            </a:r>
            <a:r>
              <a:rPr lang="zh-CN" altLang="en-US" b="1" dirty="0"/>
              <a:t>集合</a:t>
            </a:r>
          </a:p>
        </p:txBody>
      </p:sp>
    </p:spTree>
    <p:extLst>
      <p:ext uri="{BB962C8B-B14F-4D97-AF65-F5344CB8AC3E}">
        <p14:creationId xmlns:p14="http://schemas.microsoft.com/office/powerpoint/2010/main" val="2092635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255F74-4A67-6C14-FBC9-41186DCA9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7B42B4-E75F-0374-5124-099C778FC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0F32D-2BCF-9542-B6BB-59E0871A602A}" type="datetime1">
              <a:rPr kumimoji="1" lang="zh-CN" altLang="en-US" smtClean="0"/>
              <a:t>2025/7/9</a:t>
            </a:fld>
            <a:endParaRPr kumimoji="1"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FFC9C5C-E23F-1F92-98EC-0695C98E8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53C53-F4C1-CB48-9843-4ABFBD5C54B6}" type="slidenum">
              <a:rPr kumimoji="1" lang="zh-CN" altLang="en-US" smtClean="0"/>
              <a:t>7</a:t>
            </a:fld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0BD5658-1181-1220-0F5A-C0D4B7F639C8}"/>
              </a:ext>
            </a:extLst>
          </p:cNvPr>
          <p:cNvSpPr/>
          <p:nvPr/>
        </p:nvSpPr>
        <p:spPr>
          <a:xfrm>
            <a:off x="0" y="0"/>
            <a:ext cx="12192000" cy="13255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5090791D-EF69-EDEF-7940-A82A76C80F05}"/>
              </a:ext>
            </a:extLst>
          </p:cNvPr>
          <p:cNvSpPr txBox="1">
            <a:spLocks/>
          </p:cNvSpPr>
          <p:nvPr/>
        </p:nvSpPr>
        <p:spPr>
          <a:xfrm>
            <a:off x="95250" y="-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b="1">
                <a:solidFill>
                  <a:schemeClr val="bg1"/>
                </a:solidFill>
              </a:rPr>
              <a:t>ファジィシステムで</a:t>
            </a:r>
            <a:r>
              <a:rPr lang="zh-CN" altLang="en-US" b="1" dirty="0">
                <a:solidFill>
                  <a:schemeClr val="bg1"/>
                </a:solidFill>
              </a:rPr>
              <a:t>曖昧</a:t>
            </a:r>
            <a:r>
              <a:rPr lang="ja-JP" altLang="en-US" b="1">
                <a:solidFill>
                  <a:schemeClr val="bg1"/>
                </a:solidFill>
              </a:rPr>
              <a:t>な</a:t>
            </a:r>
            <a:r>
              <a:rPr lang="zh-CN" altLang="en-US" b="1" dirty="0">
                <a:solidFill>
                  <a:schemeClr val="bg1"/>
                </a:solidFill>
              </a:rPr>
              <a:t>感情</a:t>
            </a:r>
            <a:r>
              <a:rPr lang="ja-JP" altLang="en-US" b="1">
                <a:solidFill>
                  <a:schemeClr val="bg1"/>
                </a:solidFill>
              </a:rPr>
              <a:t>を</a:t>
            </a:r>
            <a:r>
              <a:rPr lang="zh-CN" altLang="en-US" b="1" dirty="0">
                <a:solidFill>
                  <a:schemeClr val="bg1"/>
                </a:solidFill>
              </a:rPr>
              <a:t>数値化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61F8846-4190-14D5-E013-BC4AE722AC79}"/>
              </a:ext>
            </a:extLst>
          </p:cNvPr>
          <p:cNvSpPr txBox="1"/>
          <p:nvPr/>
        </p:nvSpPr>
        <p:spPr>
          <a:xfrm>
            <a:off x="488577" y="1770528"/>
            <a:ext cx="61856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1"/>
              <a:t>ファジィ</a:t>
            </a:r>
            <a:r>
              <a:rPr lang="zh-CN" altLang="en-US" b="1" dirty="0"/>
              <a:t>演算</a:t>
            </a:r>
            <a:r>
              <a:rPr lang="ja-JP" altLang="en-US" b="1"/>
              <a:t>と</a:t>
            </a:r>
            <a:r>
              <a:rPr lang="zh-CN" altLang="en-US" b="1" dirty="0"/>
              <a:t>逆</a:t>
            </a:r>
            <a:r>
              <a:rPr lang="ja-JP" altLang="en-US" b="1"/>
              <a:t>ファジィ</a:t>
            </a:r>
            <a:r>
              <a:rPr lang="zh-CN" altLang="en-US" b="1" dirty="0"/>
              <a:t>化</a:t>
            </a:r>
            <a:endParaRPr lang="zh-CN" altLang="en" b="1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8D97F90-53F8-8EA9-970B-17484625EC4D}"/>
              </a:ext>
            </a:extLst>
          </p:cNvPr>
          <p:cNvSpPr txBox="1"/>
          <p:nvPr/>
        </p:nvSpPr>
        <p:spPr>
          <a:xfrm>
            <a:off x="488577" y="2219700"/>
            <a:ext cx="61856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" altLang="zh-CN" b="1" dirty="0"/>
              <a:t>AND</a:t>
            </a:r>
            <a:r>
              <a:rPr lang="zh-CN" altLang="en-US" b="1" dirty="0"/>
              <a:t>演算例</a:t>
            </a:r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80ED27CB-1629-C58C-587C-FA09D8A11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125" y="2668872"/>
            <a:ext cx="2932355" cy="273111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BF917263-C3E1-8747-C33F-4D0E36F43AD2}"/>
              </a:ext>
            </a:extLst>
          </p:cNvPr>
          <p:cNvSpPr txBox="1"/>
          <p:nvPr/>
        </p:nvSpPr>
        <p:spPr>
          <a:xfrm>
            <a:off x="497055" y="3028539"/>
            <a:ext cx="6177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重心法（</a:t>
            </a:r>
            <a:r>
              <a:rPr lang="en" altLang="zh-CN" b="1" dirty="0"/>
              <a:t>COG</a:t>
            </a:r>
            <a:r>
              <a:rPr lang="zh-CN" altLang="en" b="1" dirty="0"/>
              <a:t>）</a:t>
            </a:r>
            <a:endParaRPr lang="en" altLang="zh-CN" dirty="0"/>
          </a:p>
        </p:txBody>
      </p:sp>
      <p:pic>
        <p:nvPicPr>
          <p:cNvPr id="17" name="图片 16" descr="图片包含 文本&#10;&#10;AI 生成的内容可能不正确。">
            <a:extLst>
              <a:ext uri="{FF2B5EF4-FFF2-40B4-BE49-F238E27FC236}">
                <a16:creationId xmlns:a16="http://schemas.microsoft.com/office/drawing/2014/main" id="{BC70E4E0-B1FD-77DE-0AE2-67D74FD49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125" y="3397871"/>
            <a:ext cx="1598545" cy="973027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673F8ACA-37F4-9692-B20B-6C5CA889FA9C}"/>
              </a:ext>
            </a:extLst>
          </p:cNvPr>
          <p:cNvSpPr txBox="1"/>
          <p:nvPr/>
        </p:nvSpPr>
        <p:spPr>
          <a:xfrm>
            <a:off x="488577" y="4423134"/>
            <a:ext cx="560742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分子：</a:t>
            </a:r>
            <a:r>
              <a:rPr lang="ja-JP" altLang="en-US"/>
              <a:t>すべての</a:t>
            </a:r>
            <a:r>
              <a:rPr lang="zh-CN" altLang="en-US" dirty="0"/>
              <a:t>評価値 </a:t>
            </a:r>
            <a:r>
              <a:rPr lang="en" altLang="zh-CN" dirty="0"/>
              <a:t>x </a:t>
            </a:r>
            <a:r>
              <a:rPr lang="ja-JP" altLang="en-US"/>
              <a:t>に</a:t>
            </a:r>
            <a:r>
              <a:rPr lang="zh-CN" altLang="en-US" dirty="0"/>
              <a:t>対</a:t>
            </a:r>
            <a:r>
              <a:rPr lang="ja-JP" altLang="en-US"/>
              <a:t>して「メンバーシップ</a:t>
            </a:r>
            <a:r>
              <a:rPr lang="zh-CN" altLang="en-US" dirty="0"/>
              <a:t>度</a:t>
            </a:r>
            <a:r>
              <a:rPr lang="en-US" altLang="zh-CN" dirty="0"/>
              <a:t>×</a:t>
            </a:r>
            <a:r>
              <a:rPr lang="zh-CN" altLang="en-US" dirty="0"/>
              <a:t>評価値」</a:t>
            </a:r>
            <a:r>
              <a:rPr lang="ja-JP" altLang="en-US"/>
              <a:t>を</a:t>
            </a:r>
            <a:r>
              <a:rPr lang="zh-CN" altLang="en-US" dirty="0"/>
              <a:t>足</a:t>
            </a:r>
            <a:r>
              <a:rPr lang="ja-JP" altLang="en-US"/>
              <a:t>し</a:t>
            </a:r>
            <a:r>
              <a:rPr lang="zh-CN" altLang="en-US" dirty="0"/>
              <a:t>合</a:t>
            </a:r>
            <a:r>
              <a:rPr lang="ja-JP" altLang="en-US"/>
              <a:t>わせ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分母：</a:t>
            </a:r>
            <a:r>
              <a:rPr lang="ja-JP" altLang="en-US"/>
              <a:t>メンバーシップ</a:t>
            </a:r>
            <a:r>
              <a:rPr lang="zh-CN" altLang="en-US" dirty="0"/>
              <a:t>度</a:t>
            </a:r>
            <a:r>
              <a:rPr lang="ja-JP" altLang="en-US"/>
              <a:t>の</a:t>
            </a:r>
            <a:r>
              <a:rPr lang="zh-CN" altLang="en-US" dirty="0"/>
              <a:t>総和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結果：</a:t>
            </a:r>
            <a:r>
              <a:rPr lang="en" altLang="zh-CN" dirty="0"/>
              <a:t>x </a:t>
            </a:r>
            <a:r>
              <a:rPr lang="ja-JP" altLang="en-US"/>
              <a:t>の</a:t>
            </a:r>
            <a:r>
              <a:rPr lang="zh-CN" altLang="en-US" dirty="0"/>
              <a:t>連続値（例：</a:t>
            </a:r>
            <a:r>
              <a:rPr lang="en-US" altLang="zh-CN" dirty="0"/>
              <a:t>1.0</a:t>
            </a:r>
            <a:r>
              <a:rPr lang="zh-CN" altLang="en-US" dirty="0"/>
              <a:t>～</a:t>
            </a:r>
            <a:r>
              <a:rPr lang="en-US" altLang="zh-CN" dirty="0"/>
              <a:t>5.0</a:t>
            </a:r>
            <a:r>
              <a:rPr lang="ja-JP" altLang="en-US"/>
              <a:t>の</a:t>
            </a:r>
            <a:r>
              <a:rPr lang="zh-CN" altLang="en-US" dirty="0"/>
              <a:t>間）</a:t>
            </a:r>
            <a:r>
              <a:rPr lang="ja-JP" altLang="en-US"/>
              <a:t>として</a:t>
            </a:r>
            <a:r>
              <a:rPr lang="zh-CN" altLang="en-US" dirty="0"/>
              <a:t>出力</a:t>
            </a:r>
            <a:r>
              <a:rPr lang="ja-JP" altLang="en-US"/>
              <a:t>され、</a:t>
            </a:r>
            <a:r>
              <a:rPr lang="zh-CN" altLang="en-US" dirty="0"/>
              <a:t>単語</a:t>
            </a:r>
            <a:r>
              <a:rPr lang="ja-JP" altLang="en-US"/>
              <a:t>の「</a:t>
            </a:r>
            <a:r>
              <a:rPr lang="zh-CN" altLang="en-US" dirty="0"/>
              <a:t>感情傾向</a:t>
            </a:r>
            <a:r>
              <a:rPr lang="ja-JP" altLang="en-US"/>
              <a:t>スコア」となる</a:t>
            </a:r>
          </a:p>
        </p:txBody>
      </p:sp>
      <p:pic>
        <p:nvPicPr>
          <p:cNvPr id="21" name="图片 20" descr="表格&#10;&#10;AI 生成的内容可能不正确。">
            <a:extLst>
              <a:ext uri="{FF2B5EF4-FFF2-40B4-BE49-F238E27FC236}">
                <a16:creationId xmlns:a16="http://schemas.microsoft.com/office/drawing/2014/main" id="{EC447F27-D95C-DB08-E640-3201D573AC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1050" y="2551603"/>
            <a:ext cx="5803900" cy="1358900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F17C9191-20BC-CC61-468D-E9F6ECBF01D2}"/>
              </a:ext>
            </a:extLst>
          </p:cNvPr>
          <p:cNvSpPr txBox="1"/>
          <p:nvPr/>
        </p:nvSpPr>
        <p:spPr>
          <a:xfrm>
            <a:off x="6021050" y="1898771"/>
            <a:ext cx="6181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結果例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FA79B63-1C75-BF1C-780E-F09CC3051407}"/>
              </a:ext>
            </a:extLst>
          </p:cNvPr>
          <p:cNvSpPr txBox="1"/>
          <p:nvPr/>
        </p:nvSpPr>
        <p:spPr>
          <a:xfrm>
            <a:off x="6096000" y="4102205"/>
            <a:ext cx="58039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/>
              <a:t>この</a:t>
            </a:r>
            <a:r>
              <a:rPr lang="zh-CN" altLang="en-US" dirty="0"/>
              <a:t>辞書</a:t>
            </a:r>
            <a:r>
              <a:rPr lang="ja-JP" altLang="en-US"/>
              <a:t>を</a:t>
            </a:r>
            <a:r>
              <a:rPr lang="zh-CN" altLang="en-US" dirty="0"/>
              <a:t>使</a:t>
            </a:r>
            <a:r>
              <a:rPr lang="ja-JP" altLang="en-US"/>
              <a:t>えば、</a:t>
            </a:r>
            <a:r>
              <a:rPr lang="zh-CN" altLang="en-US" dirty="0"/>
              <a:t>任意</a:t>
            </a:r>
            <a:r>
              <a:rPr lang="ja-JP" altLang="en-US"/>
              <a:t>のレビュー</a:t>
            </a:r>
            <a:r>
              <a:rPr lang="zh-CN" altLang="en-US" dirty="0"/>
              <a:t>文</a:t>
            </a:r>
            <a:r>
              <a:rPr lang="ja-JP" altLang="en-US"/>
              <a:t>からキーワード</a:t>
            </a:r>
            <a:r>
              <a:rPr lang="zh-CN" altLang="en-US" dirty="0"/>
              <a:t>単位</a:t>
            </a:r>
            <a:r>
              <a:rPr lang="ja-JP" altLang="en-US"/>
              <a:t>で</a:t>
            </a:r>
            <a:r>
              <a:rPr lang="zh-CN" altLang="en-US" dirty="0"/>
              <a:t>感情数値</a:t>
            </a:r>
            <a:r>
              <a:rPr lang="ja-JP" altLang="en-US"/>
              <a:t>を</a:t>
            </a:r>
            <a:r>
              <a:rPr lang="zh-CN" altLang="en-US" dirty="0"/>
              <a:t>抽出</a:t>
            </a:r>
            <a:r>
              <a:rPr lang="ja-JP" altLang="en-US"/>
              <a:t>でき、</a:t>
            </a:r>
            <a:r>
              <a:rPr lang="zh-CN" altLang="en-US" dirty="0"/>
              <a:t>以降</a:t>
            </a:r>
            <a:r>
              <a:rPr lang="ja-JP" altLang="en-US"/>
              <a:t>の</a:t>
            </a:r>
            <a:r>
              <a:rPr lang="zh-CN" altLang="en-US" dirty="0"/>
              <a:t>相関分析</a:t>
            </a:r>
            <a:r>
              <a:rPr lang="ja-JP" altLang="en-US"/>
              <a:t>や</a:t>
            </a:r>
            <a:r>
              <a:rPr lang="zh-CN" altLang="en-US" dirty="0"/>
              <a:t>機械学習</a:t>
            </a:r>
            <a:r>
              <a:rPr lang="ja-JP" altLang="en-US"/>
              <a:t>モデルに</a:t>
            </a:r>
            <a:r>
              <a:rPr lang="zh-CN" altLang="en-US" dirty="0"/>
              <a:t>連続変数</a:t>
            </a:r>
            <a:r>
              <a:rPr lang="ja-JP" altLang="en-US"/>
              <a:t>として</a:t>
            </a:r>
            <a:r>
              <a:rPr lang="zh-CN" altLang="en-US" dirty="0"/>
              <a:t>投入可能</a:t>
            </a:r>
            <a:r>
              <a:rPr lang="ja-JP" altLang="en-US"/>
              <a:t>になります。</a:t>
            </a:r>
          </a:p>
        </p:txBody>
      </p:sp>
    </p:spTree>
    <p:extLst>
      <p:ext uri="{BB962C8B-B14F-4D97-AF65-F5344CB8AC3E}">
        <p14:creationId xmlns:p14="http://schemas.microsoft.com/office/powerpoint/2010/main" val="193535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4524</TotalTime>
  <Words>812</Words>
  <Application>Microsoft Macintosh PowerPoint</Application>
  <PresentationFormat>宽屏</PresentationFormat>
  <Paragraphs>120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等线</vt:lpstr>
      <vt:lpstr>等线 Light</vt:lpstr>
      <vt:lpstr>Arial</vt:lpstr>
      <vt:lpstr>Office 主题​​</vt:lpstr>
      <vt:lpstr>課外活動紹介</vt:lpstr>
      <vt:lpstr>アウトライン</vt:lpstr>
      <vt:lpstr>原始データの概要</vt:lpstr>
      <vt:lpstr>ワークフロー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WANG Zhuofan</dc:creator>
  <cp:lastModifiedBy>WANG Zhuofan</cp:lastModifiedBy>
  <cp:revision>1</cp:revision>
  <dcterms:created xsi:type="dcterms:W3CDTF">2025-07-08T05:17:27Z</dcterms:created>
  <dcterms:modified xsi:type="dcterms:W3CDTF">2025-07-11T08:41:30Z</dcterms:modified>
</cp:coreProperties>
</file>